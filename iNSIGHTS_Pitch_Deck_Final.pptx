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5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58306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3A32F1-A440-B68D-C8C2-FA0D0BA53B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23FFE3-A3C9-F4E6-E21E-02DA9FAC93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0D0DDC-CADC-94CD-5AF8-EF69D51EC4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C9CDF7-6D49-9BE7-D4DF-86945297CA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1968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06691EB8-D81B-141F-E211-E7FD32A2093D}"/>
              </a:ext>
            </a:extLst>
          </p:cNvPr>
          <p:cNvGrpSpPr/>
          <p:nvPr/>
        </p:nvGrpSpPr>
        <p:grpSpPr>
          <a:xfrm>
            <a:off x="4434840" y="1257300"/>
            <a:ext cx="457200" cy="457200"/>
            <a:chOff x="4434840" y="1234440"/>
            <a:chExt cx="457200" cy="457200"/>
          </a:xfrm>
        </p:grpSpPr>
        <p:sp>
          <p:nvSpPr>
            <p:cNvPr id="2" name="Shape 0"/>
            <p:cNvSpPr/>
            <p:nvPr/>
          </p:nvSpPr>
          <p:spPr>
            <a:xfrm>
              <a:off x="4434840" y="1234440"/>
              <a:ext cx="457200" cy="457200"/>
            </a:xfrm>
            <a:prstGeom prst="rect">
              <a:avLst/>
            </a:prstGeom>
            <a:solidFill>
              <a:srgbClr val="C85A17"/>
            </a:solidFill>
            <a:ln/>
          </p:spPr>
        </p:sp>
        <p:sp>
          <p:nvSpPr>
            <p:cNvPr id="3" name="Text 1"/>
            <p:cNvSpPr/>
            <p:nvPr/>
          </p:nvSpPr>
          <p:spPr>
            <a:xfrm>
              <a:off x="4434840" y="1234440"/>
              <a:ext cx="4572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600" b="1" dirty="0">
                  <a:solidFill>
                    <a:srgbClr val="FFFFFF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i</a:t>
              </a:r>
              <a:endParaRPr lang="en-US" sz="2600" dirty="0"/>
            </a:p>
          </p:txBody>
        </p:sp>
      </p:grpSp>
      <p:sp>
        <p:nvSpPr>
          <p:cNvPr id="4" name="Text 2"/>
          <p:cNvSpPr/>
          <p:nvPr/>
        </p:nvSpPr>
        <p:spPr>
          <a:xfrm>
            <a:off x="5010912" y="1170432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6E2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iNSIGHTS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029200" y="16733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50" dirty="0">
                <a:solidFill>
                  <a:srgbClr val="A09A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RESEARCH &amp; INNOVATION COPILOT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97280" y="2423160"/>
            <a:ext cx="99971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E6E2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AI-Powered Research &amp; Innovation Copilot for Students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1097280" y="2999232"/>
            <a:ext cx="99971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50" i="1" dirty="0">
                <a:solidFill>
                  <a:srgbClr val="C85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“Search Less. Solve More. — with iNSIGHTS Layer 2”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2068830" y="3566160"/>
            <a:ext cx="2293315" cy="329184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68830" y="3566160"/>
            <a:ext cx="229331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kern="0" spc="50" dirty="0">
                <a:solidFill>
                  <a:srgbClr val="A09A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/ 8 LAYER 2 MODULES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90745" y="3566160"/>
            <a:ext cx="3368650" cy="329184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90745" y="3566160"/>
            <a:ext cx="336865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kern="0" spc="50" dirty="0">
                <a:solidFill>
                  <a:srgbClr val="A09A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FULL-STACK: REACT + NODE + SQLITE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187995" y="3566160"/>
            <a:ext cx="1934870" cy="329184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87995" y="3566160"/>
            <a:ext cx="193487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kern="0" spc="50" dirty="0">
                <a:solidFill>
                  <a:srgbClr val="A09A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WORKING </a:t>
            </a:r>
            <a:r>
              <a:rPr lang="en-US" sz="950" b="1" kern="0" spc="50" dirty="0">
                <a:solidFill>
                  <a:srgbClr val="A09A8E"/>
                </a:solidFill>
                <a:latin typeface="Courier New" pitchFamily="34" charset="0"/>
                <a:cs typeface="Courier New" pitchFamily="34" charset="-120"/>
              </a:rPr>
              <a:t>PRODUCT</a:t>
            </a:r>
          </a:p>
        </p:txBody>
      </p:sp>
      <p:sp>
        <p:nvSpPr>
          <p:cNvPr id="14" name="Shape 12"/>
          <p:cNvSpPr/>
          <p:nvPr/>
        </p:nvSpPr>
        <p:spPr>
          <a:xfrm>
            <a:off x="3215488" y="4206240"/>
            <a:ext cx="5852160" cy="123444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5" name="Shape 13"/>
          <p:cNvSpPr/>
          <p:nvPr/>
        </p:nvSpPr>
        <p:spPr>
          <a:xfrm>
            <a:off x="3169768" y="4160520"/>
            <a:ext cx="5852160" cy="1234440"/>
          </a:xfrm>
          <a:prstGeom prst="rect">
            <a:avLst/>
          </a:prstGeom>
          <a:solidFill>
            <a:srgbClr val="1A1A1A"/>
          </a:solidFill>
          <a:ln w="190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6" name="Text 14"/>
          <p:cNvSpPr/>
          <p:nvPr/>
        </p:nvSpPr>
        <p:spPr>
          <a:xfrm>
            <a:off x="3352648" y="4343400"/>
            <a:ext cx="54864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09A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 Name: </a:t>
            </a:r>
            <a:r>
              <a:rPr lang="en-US" sz="1300" dirty="0" err="1">
                <a:solidFill>
                  <a:srgbClr val="E6E2D8"/>
                </a:solidFill>
                <a:latin typeface="Courier New" pitchFamily="34" charset="0"/>
                <a:cs typeface="Courier New" pitchFamily="34" charset="-120"/>
              </a:rPr>
              <a:t>FusionX</a:t>
            </a:r>
            <a:r>
              <a:rPr lang="en-US" sz="1300" b="1" dirty="0">
                <a:solidFill>
                  <a:srgbClr val="A09A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</a:p>
          <a:p>
            <a:pPr marL="0" indent="0">
              <a:buNone/>
            </a:pPr>
            <a:r>
              <a:rPr lang="en-US" sz="1300" b="1" dirty="0">
                <a:solidFill>
                  <a:srgbClr val="A09A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 Members: </a:t>
            </a:r>
            <a:r>
              <a:rPr lang="en-US" sz="1300" dirty="0">
                <a:solidFill>
                  <a:srgbClr val="E6E2D8"/>
                </a:solidFill>
                <a:latin typeface="Courier New" pitchFamily="34" charset="0"/>
                <a:cs typeface="Courier New" pitchFamily="34" charset="-120"/>
              </a:rPr>
              <a:t>Rohan </a:t>
            </a:r>
            <a:r>
              <a:rPr lang="en-US" sz="1300" dirty="0" err="1">
                <a:solidFill>
                  <a:srgbClr val="E6E2D8"/>
                </a:solidFill>
                <a:latin typeface="Courier New" pitchFamily="34" charset="0"/>
                <a:cs typeface="Courier New" pitchFamily="34" charset="-120"/>
              </a:rPr>
              <a:t>Tarke</a:t>
            </a:r>
            <a:r>
              <a:rPr lang="en-US" sz="1300" dirty="0">
                <a:solidFill>
                  <a:srgbClr val="E6E2D8"/>
                </a:solidFill>
                <a:latin typeface="Courier New" pitchFamily="34" charset="0"/>
                <a:cs typeface="Courier New" pitchFamily="34" charset="-120"/>
              </a:rPr>
              <a:t>, Khushi </a:t>
            </a:r>
            <a:r>
              <a:rPr lang="en-US" sz="1300" dirty="0" err="1">
                <a:solidFill>
                  <a:srgbClr val="E6E2D8"/>
                </a:solidFill>
                <a:latin typeface="Courier New" pitchFamily="34" charset="0"/>
                <a:cs typeface="Courier New" pitchFamily="34" charset="-120"/>
              </a:rPr>
              <a:t>Mokani</a:t>
            </a:r>
            <a:r>
              <a:rPr lang="en-US" sz="1300" dirty="0">
                <a:solidFill>
                  <a:srgbClr val="E6E2D8"/>
                </a:solidFill>
                <a:latin typeface="Courier New" pitchFamily="34" charset="0"/>
                <a:cs typeface="Courier New" pitchFamily="34" charset="-120"/>
              </a:rPr>
              <a:t>, Aarya Deshpande, Kalpesh Devre</a:t>
            </a:r>
          </a:p>
        </p:txBody>
      </p:sp>
      <p:sp>
        <p:nvSpPr>
          <p:cNvPr id="18" name="Text 16"/>
          <p:cNvSpPr/>
          <p:nvPr/>
        </p:nvSpPr>
        <p:spPr>
          <a:xfrm>
            <a:off x="0" y="6355080"/>
            <a:ext cx="12191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kern="0" spc="100" dirty="0">
                <a:solidFill>
                  <a:srgbClr val="A09A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iNSIGHTS TRACK  •  FINAL ROUND SUBMISSION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089404" cy="292608"/>
          </a:xfrm>
          <a:prstGeom prst="rect">
            <a:avLst/>
          </a:prstGeom>
          <a:solidFill>
            <a:srgbClr val="EFECE6"/>
          </a:solidFill>
          <a:ln w="12700">
            <a:solidFill>
              <a:srgbClr val="E7E2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548640"/>
            <a:ext cx="82296" cy="82296"/>
          </a:xfrm>
          <a:prstGeom prst="rect">
            <a:avLst/>
          </a:prstGeom>
          <a:solidFill>
            <a:srgbClr val="C85A17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457200"/>
            <a:ext cx="18150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kern="0" spc="100" dirty="0">
                <a:solidFill>
                  <a:srgbClr val="706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 STATEMENT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Idea-to-Project Is Broken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24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 of students struggle to convert ideas into working projects — scattered across Google, YouTube, GitHub, papers, and forums.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12648" y="2212848"/>
            <a:ext cx="6766560" cy="416052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2148840"/>
            <a:ext cx="6766560" cy="4160520"/>
          </a:xfrm>
          <a:prstGeom prst="rect">
            <a:avLst/>
          </a:prstGeom>
          <a:solidFill>
            <a:srgbClr val="FAF9F5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37744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Happening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68680" y="2834640"/>
            <a:ext cx="621792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22000"/>
              </a:lnSpc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spent searching Google, YouTube, GitHub, papers &amp; forums — per idea</a:t>
            </a:r>
            <a:endParaRPr lang="en-US" sz="1600" dirty="0"/>
          </a:p>
          <a:p>
            <a:pPr marL="228600" indent="-228600">
              <a:lnSpc>
                <a:spcPct val="122000"/>
              </a:lnSpc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is scattered, outdated, duplicated, or unreliable</a:t>
            </a:r>
            <a:endParaRPr lang="en-US" sz="1600" dirty="0"/>
          </a:p>
          <a:p>
            <a:pPr marL="228600" indent="-228600">
              <a:lnSpc>
                <a:spcPct val="122000"/>
              </a:lnSpc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validate an idea or pick the right approach before building</a:t>
            </a:r>
            <a:endParaRPr lang="en-US" sz="1600" dirty="0"/>
          </a:p>
          <a:p>
            <a:pPr marL="228600" indent="-228600">
              <a:lnSpc>
                <a:spcPct val="122000"/>
              </a:lnSpc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source shows research, architecture, and a build plan together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68680" y="5074920"/>
            <a:ext cx="6217920" cy="1051560"/>
          </a:xfrm>
          <a:prstGeom prst="rect">
            <a:avLst/>
          </a:prstGeom>
          <a:solidFill>
            <a:srgbClr val="EFECE6"/>
          </a:solidFill>
          <a:ln w="12700">
            <a:solidFill>
              <a:srgbClr val="E7E2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516636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706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Who's Affected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051560" y="5440680"/>
            <a:ext cx="5852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Students, hackathon teams, and early-stage developers trying to turn a raw idea into an implementation-ready project — quickly and correctly.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699248" y="2212848"/>
            <a:ext cx="3977640" cy="416052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5" name="Shape 13"/>
          <p:cNvSpPr/>
          <p:nvPr/>
        </p:nvSpPr>
        <p:spPr>
          <a:xfrm>
            <a:off x="7635240" y="2148840"/>
            <a:ext cx="3977640" cy="4160520"/>
          </a:xfrm>
          <a:prstGeom prst="rect">
            <a:avLst/>
          </a:prstGeom>
          <a:solidFill>
            <a:srgbClr val="F4F1EA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09560" y="23774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Existing Approaches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7909560" y="2834640"/>
            <a:ext cx="34290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22000"/>
              </a:lnSpc>
              <a:spcAft>
                <a:spcPts val="800"/>
              </a:spcAft>
              <a:buSzPct val="100000"/>
              <a:buChar char="■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/ ChatGPT search — no citations, no structure</a:t>
            </a:r>
            <a:endParaRPr lang="en-US" sz="1250" dirty="0"/>
          </a:p>
          <a:p>
            <a:pPr marL="228600" indent="-228600">
              <a:lnSpc>
                <a:spcPct val="122000"/>
              </a:lnSpc>
              <a:spcAft>
                <a:spcPts val="800"/>
              </a:spcAft>
              <a:buSzPct val="100000"/>
              <a:buChar char="■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arXiv / GitHub browsing — slow, easy to miss gaps</a:t>
            </a:r>
            <a:endParaRPr lang="en-US" sz="1250" dirty="0"/>
          </a:p>
          <a:p>
            <a:pPr marL="228600" indent="-228600">
              <a:lnSpc>
                <a:spcPct val="122000"/>
              </a:lnSpc>
              <a:spcAft>
                <a:spcPts val="800"/>
              </a:spcAft>
              <a:buSzPct val="100000"/>
              <a:buChar char="■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AI chatbots — no persistent workspace or plan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909560" y="4709160"/>
            <a:ext cx="3429000" cy="1417320"/>
          </a:xfrm>
          <a:prstGeom prst="rect">
            <a:avLst/>
          </a:prstGeom>
          <a:solidFill>
            <a:srgbClr val="C85A17"/>
          </a:solidFill>
          <a:ln/>
        </p:spPr>
      </p:sp>
      <p:sp>
        <p:nvSpPr>
          <p:cNvPr id="19" name="Text 17"/>
          <p:cNvSpPr/>
          <p:nvPr/>
        </p:nvSpPr>
        <p:spPr>
          <a:xfrm>
            <a:off x="8092440" y="482803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KEY GAP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092440" y="5102352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single tool takes you from idea → validated research → implementation plan.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0180015" y="647395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B8B2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iNSIGHTS  •  02 / 09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089404" cy="292608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548640"/>
            <a:ext cx="82296" cy="82296"/>
          </a:xfrm>
          <a:prstGeom prst="rect">
            <a:avLst/>
          </a:prstGeom>
          <a:solidFill>
            <a:srgbClr val="C85A17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457200"/>
            <a:ext cx="18150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kern="0" spc="100" dirty="0">
                <a:solidFill>
                  <a:srgbClr val="A09A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PROPOSED SOLUTION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6E2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Meet iNSIGHTS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C85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 AI copilot — from a raw idea to a cited, cluster-organized, implementation-ready plan, with a Telegram companion that keeps you on track.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94360" y="2148840"/>
            <a:ext cx="2084832" cy="19659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2103120"/>
            <a:ext cx="2084832" cy="1965960"/>
          </a:xfrm>
          <a:prstGeom prst="rect">
            <a:avLst/>
          </a:prstGeom>
          <a:solidFill>
            <a:srgbClr val="1A1A1A"/>
          </a:solidFill>
          <a:ln w="1905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3232" y="2267712"/>
            <a:ext cx="438912" cy="438912"/>
          </a:xfrm>
          <a:prstGeom prst="ellipse">
            <a:avLst/>
          </a:prstGeom>
          <a:solidFill>
            <a:srgbClr val="C85A17"/>
          </a:solidFill>
          <a:ln/>
        </p:spPr>
      </p:sp>
      <p:sp>
        <p:nvSpPr>
          <p:cNvPr id="10" name="Text 8"/>
          <p:cNvSpPr/>
          <p:nvPr/>
        </p:nvSpPr>
        <p:spPr>
          <a:xfrm>
            <a:off x="713232" y="22677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000000"/>
                </a:solidFill>
              </a:rPr>
              <a:t>💡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2066544" y="226771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A09A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13232" y="2788920"/>
            <a:ext cx="175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6E2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Idea Input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13232" y="3273552"/>
            <a:ext cx="17556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9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an idea; pick a summary language (8 supported)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38044" y="2903220"/>
            <a:ext cx="1737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85A17"/>
                </a:solidFill>
              </a:rPr>
              <a:t>→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2862072" y="2148840"/>
            <a:ext cx="2084832" cy="19659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6" name="Shape 14"/>
          <p:cNvSpPr/>
          <p:nvPr/>
        </p:nvSpPr>
        <p:spPr>
          <a:xfrm>
            <a:off x="2816352" y="2103120"/>
            <a:ext cx="2084832" cy="1965960"/>
          </a:xfrm>
          <a:prstGeom prst="rect">
            <a:avLst/>
          </a:prstGeom>
          <a:solidFill>
            <a:srgbClr val="1A1A1A"/>
          </a:solidFill>
          <a:ln w="1905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980944" y="2267712"/>
            <a:ext cx="438912" cy="438912"/>
          </a:xfrm>
          <a:prstGeom prst="ellipse">
            <a:avLst/>
          </a:prstGeom>
          <a:solidFill>
            <a:srgbClr val="C85A17"/>
          </a:solidFill>
          <a:ln/>
        </p:spPr>
      </p:sp>
      <p:sp>
        <p:nvSpPr>
          <p:cNvPr id="18" name="Text 16"/>
          <p:cNvSpPr/>
          <p:nvPr/>
        </p:nvSpPr>
        <p:spPr>
          <a:xfrm>
            <a:off x="2980944" y="22677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000000"/>
                </a:solidFill>
              </a:rPr>
              <a:t>🔍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334256" y="226771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A09A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980944" y="2788920"/>
            <a:ext cx="175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6E2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DeepSearch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2980944" y="3273552"/>
            <a:ext cx="17556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9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Tavily + GitHub + arXiv merged &amp; cited in parallel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05756" y="2903220"/>
            <a:ext cx="1737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85A17"/>
                </a:solidFill>
              </a:rPr>
              <a:t>→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5129784" y="2148840"/>
            <a:ext cx="2084832" cy="19659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4" name="Shape 22"/>
          <p:cNvSpPr/>
          <p:nvPr/>
        </p:nvSpPr>
        <p:spPr>
          <a:xfrm>
            <a:off x="5084064" y="2103120"/>
            <a:ext cx="2084832" cy="1965960"/>
          </a:xfrm>
          <a:prstGeom prst="rect">
            <a:avLst/>
          </a:prstGeom>
          <a:solidFill>
            <a:srgbClr val="1A1A1A"/>
          </a:solidFill>
          <a:ln w="1905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248656" y="2267712"/>
            <a:ext cx="438912" cy="438912"/>
          </a:xfrm>
          <a:prstGeom prst="ellipse">
            <a:avLst/>
          </a:prstGeom>
          <a:solidFill>
            <a:srgbClr val="C85A17"/>
          </a:solidFill>
          <a:ln/>
        </p:spPr>
      </p:sp>
      <p:sp>
        <p:nvSpPr>
          <p:cNvPr id="26" name="Text 24"/>
          <p:cNvSpPr/>
          <p:nvPr/>
        </p:nvSpPr>
        <p:spPr>
          <a:xfrm>
            <a:off x="5248656" y="22677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000000"/>
                </a:solidFill>
              </a:rPr>
              <a:t>🧠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6601968" y="226771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A09A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248656" y="2788920"/>
            <a:ext cx="175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6E2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Clustering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5248656" y="3273552"/>
            <a:ext cx="17556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9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Auto-grouped into 3–6 labeled thematic clusters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173468" y="2903220"/>
            <a:ext cx="1737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85A17"/>
                </a:solidFill>
              </a:rPr>
              <a:t>→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7397496" y="2148840"/>
            <a:ext cx="2084832" cy="19659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2" name="Shape 30"/>
          <p:cNvSpPr/>
          <p:nvPr/>
        </p:nvSpPr>
        <p:spPr>
          <a:xfrm>
            <a:off x="7351776" y="2103120"/>
            <a:ext cx="2084832" cy="1965960"/>
          </a:xfrm>
          <a:prstGeom prst="rect">
            <a:avLst/>
          </a:prstGeom>
          <a:solidFill>
            <a:srgbClr val="1A1A1A"/>
          </a:solidFill>
          <a:ln w="19050">
            <a:solidFill>
              <a:srgbClr val="33333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516368" y="2267712"/>
            <a:ext cx="438912" cy="438912"/>
          </a:xfrm>
          <a:prstGeom prst="ellipse">
            <a:avLst/>
          </a:prstGeom>
          <a:solidFill>
            <a:srgbClr val="C85A17"/>
          </a:solidFill>
          <a:ln/>
        </p:spPr>
      </p:sp>
      <p:sp>
        <p:nvSpPr>
          <p:cNvPr id="34" name="Text 32"/>
          <p:cNvSpPr/>
          <p:nvPr/>
        </p:nvSpPr>
        <p:spPr>
          <a:xfrm>
            <a:off x="7516368" y="22677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000000"/>
                </a:solidFill>
              </a:rPr>
              <a:t>🚀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8869680" y="226771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A09A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7516368" y="2788920"/>
            <a:ext cx="175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6E2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HUB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7516368" y="3273552"/>
            <a:ext cx="17556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9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stack, milestones &amp; datasets — cached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9441180" y="2903220"/>
            <a:ext cx="1737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85A17"/>
                </a:solidFill>
              </a:rPr>
              <a:t>→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9665208" y="2148840"/>
            <a:ext cx="2084832" cy="19659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40" name="Shape 38"/>
          <p:cNvSpPr/>
          <p:nvPr/>
        </p:nvSpPr>
        <p:spPr>
          <a:xfrm>
            <a:off x="9619488" y="2103120"/>
            <a:ext cx="2084832" cy="1965960"/>
          </a:xfrm>
          <a:prstGeom prst="rect">
            <a:avLst/>
          </a:prstGeom>
          <a:solidFill>
            <a:srgbClr val="1A1A1A"/>
          </a:solidFill>
          <a:ln w="19050">
            <a:solidFill>
              <a:srgbClr val="33333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784080" y="2267712"/>
            <a:ext cx="438912" cy="438912"/>
          </a:xfrm>
          <a:prstGeom prst="ellipse">
            <a:avLst/>
          </a:prstGeom>
          <a:solidFill>
            <a:srgbClr val="C85A17"/>
          </a:solidFill>
          <a:ln/>
        </p:spPr>
      </p:sp>
      <p:sp>
        <p:nvSpPr>
          <p:cNvPr id="42" name="Text 40"/>
          <p:cNvSpPr/>
          <p:nvPr/>
        </p:nvSpPr>
        <p:spPr>
          <a:xfrm>
            <a:off x="9784080" y="226771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000000"/>
                </a:solidFill>
              </a:rPr>
              <a:t>📚</a:t>
            </a:r>
            <a:endParaRPr lang="en-US" sz="1700" dirty="0"/>
          </a:p>
        </p:txBody>
      </p:sp>
      <p:sp>
        <p:nvSpPr>
          <p:cNvPr id="43" name="Text 41"/>
          <p:cNvSpPr/>
          <p:nvPr/>
        </p:nvSpPr>
        <p:spPr>
          <a:xfrm>
            <a:off x="11137392" y="226771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A09A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9784080" y="2788920"/>
            <a:ext cx="175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6E2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Workspaces + Agent</a:t>
            </a:r>
            <a:endParaRPr lang="en-US" sz="1350" dirty="0"/>
          </a:p>
        </p:txBody>
      </p:sp>
      <p:sp>
        <p:nvSpPr>
          <p:cNvPr id="45" name="Text 43"/>
          <p:cNvSpPr/>
          <p:nvPr/>
        </p:nvSpPr>
        <p:spPr>
          <a:xfrm>
            <a:off x="9784080" y="3273552"/>
            <a:ext cx="17556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9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citations; get /status on Telegram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48640" y="44348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A09A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It's Better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548640" y="4818888"/>
            <a:ext cx="3520440" cy="82296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13232" y="5166360"/>
            <a:ext cx="128016" cy="128016"/>
          </a:xfrm>
          <a:prstGeom prst="rect">
            <a:avLst/>
          </a:prstGeom>
          <a:solidFill>
            <a:srgbClr val="C85A17"/>
          </a:solidFill>
          <a:ln/>
        </p:spPr>
      </p:sp>
      <p:sp>
        <p:nvSpPr>
          <p:cNvPr id="49" name="Text 47"/>
          <p:cNvSpPr/>
          <p:nvPr/>
        </p:nvSpPr>
        <p:spPr>
          <a:xfrm>
            <a:off x="960120" y="4818888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E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Verifiable citations, not guesses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4343400" y="4818888"/>
            <a:ext cx="3520440" cy="82296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507992" y="5093208"/>
            <a:ext cx="128016" cy="128016"/>
          </a:xfrm>
          <a:prstGeom prst="rect">
            <a:avLst/>
          </a:prstGeom>
          <a:solidFill>
            <a:srgbClr val="C85A17"/>
          </a:solidFill>
          <a:ln/>
        </p:spPr>
      </p:sp>
      <p:sp>
        <p:nvSpPr>
          <p:cNvPr id="52" name="Text 50"/>
          <p:cNvSpPr/>
          <p:nvPr/>
        </p:nvSpPr>
        <p:spPr>
          <a:xfrm>
            <a:off x="4754880" y="4818888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E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generated &amp; cached project plans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8138160" y="4818888"/>
            <a:ext cx="3520440" cy="82296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302752" y="5093208"/>
            <a:ext cx="128016" cy="128016"/>
          </a:xfrm>
          <a:prstGeom prst="rect">
            <a:avLst/>
          </a:prstGeom>
          <a:solidFill>
            <a:srgbClr val="C85A17"/>
          </a:solidFill>
          <a:ln/>
        </p:spPr>
      </p:sp>
      <p:sp>
        <p:nvSpPr>
          <p:cNvPr id="55" name="Text 53"/>
          <p:cNvSpPr/>
          <p:nvPr/>
        </p:nvSpPr>
        <p:spPr>
          <a:xfrm>
            <a:off x="8549640" y="4818888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E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Telegram companion — not just a webpage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10180015" y="647395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iNSIGHTS  •  03 / 09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1705356" cy="292608"/>
          </a:xfrm>
          <a:prstGeom prst="rect">
            <a:avLst/>
          </a:prstGeom>
          <a:solidFill>
            <a:srgbClr val="EFECE6"/>
          </a:solidFill>
          <a:ln w="12700">
            <a:solidFill>
              <a:srgbClr val="E7E2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475488"/>
            <a:ext cx="82296" cy="82296"/>
          </a:xfrm>
          <a:prstGeom prst="rect">
            <a:avLst/>
          </a:prstGeom>
          <a:solidFill>
            <a:srgbClr val="C85A17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384048"/>
            <a:ext cx="14310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kern="0" spc="100" dirty="0">
                <a:solidFill>
                  <a:srgbClr val="706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 DESIGN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94360" y="1463040"/>
            <a:ext cx="11094415" cy="10058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417320"/>
            <a:ext cx="11094415" cy="1005840"/>
          </a:xfrm>
          <a:prstGeom prst="rect">
            <a:avLst/>
          </a:prstGeom>
          <a:solidFill>
            <a:srgbClr val="FAF9F5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508760"/>
            <a:ext cx="107286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50" dirty="0">
                <a:solidFill>
                  <a:srgbClr val="706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FRONTEND — React 19 + TypeScript + Tailwind CSS v4 (Vite)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1856232"/>
            <a:ext cx="2014057" cy="438912"/>
          </a:xfrm>
          <a:prstGeom prst="rect">
            <a:avLst/>
          </a:prstGeom>
          <a:solidFill>
            <a:srgbClr val="EFECE6"/>
          </a:solidFill>
          <a:ln w="12700">
            <a:solidFill>
              <a:srgbClr val="E7E2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856232"/>
            <a:ext cx="201405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Input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910169" y="1856232"/>
            <a:ext cx="2014057" cy="438912"/>
          </a:xfrm>
          <a:prstGeom prst="rect">
            <a:avLst/>
          </a:prstGeom>
          <a:solidFill>
            <a:srgbClr val="EFECE6"/>
          </a:solidFill>
          <a:ln w="12700">
            <a:solidFill>
              <a:srgbClr val="E7E2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10169" y="1856232"/>
            <a:ext cx="201405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DeepSearch + Clusters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88819" y="1856232"/>
            <a:ext cx="2014057" cy="438912"/>
          </a:xfrm>
          <a:prstGeom prst="rect">
            <a:avLst/>
          </a:prstGeom>
          <a:solidFill>
            <a:srgbClr val="EFECE6"/>
          </a:solidFill>
          <a:ln w="12700">
            <a:solidFill>
              <a:srgbClr val="E7E2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88819" y="1856232"/>
            <a:ext cx="201405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HUB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267468" y="1856232"/>
            <a:ext cx="2014057" cy="438912"/>
          </a:xfrm>
          <a:prstGeom prst="rect">
            <a:avLst/>
          </a:prstGeom>
          <a:solidFill>
            <a:srgbClr val="EFECE6"/>
          </a:solidFill>
          <a:ln w="12700">
            <a:solidFill>
              <a:srgbClr val="E7E2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67468" y="1856232"/>
            <a:ext cx="201405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446118" y="1856232"/>
            <a:ext cx="2014057" cy="438912"/>
          </a:xfrm>
          <a:prstGeom prst="rect">
            <a:avLst/>
          </a:prstGeom>
          <a:solidFill>
            <a:srgbClr val="EFECE6"/>
          </a:solidFill>
          <a:ln w="12700">
            <a:solidFill>
              <a:srgbClr val="E7E2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46118" y="1856232"/>
            <a:ext cx="201405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2441448"/>
            <a:ext cx="110944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06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↓  REST  /api  (JSON)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94360" y="2761488"/>
            <a:ext cx="11094415" cy="141732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2715768"/>
            <a:ext cx="11094415" cy="1417320"/>
          </a:xfrm>
          <a:prstGeom prst="rect">
            <a:avLst/>
          </a:prstGeom>
          <a:solidFill>
            <a:srgbClr val="F4F1EA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2807208"/>
            <a:ext cx="107286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50" dirty="0">
                <a:solidFill>
                  <a:srgbClr val="706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 — Node.js + Express 5  (5 route-mounted modules)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31520" y="3154680"/>
            <a:ext cx="2014057" cy="868680"/>
          </a:xfrm>
          <a:prstGeom prst="rect">
            <a:avLst/>
          </a:prstGeom>
          <a:solidFill>
            <a:srgbClr val="FAF9F5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3218688"/>
            <a:ext cx="183117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5A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platform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22960" y="3493008"/>
            <a:ext cx="1831177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+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910169" y="3154680"/>
            <a:ext cx="2014057" cy="868680"/>
          </a:xfrm>
          <a:prstGeom prst="rect">
            <a:avLst/>
          </a:prstGeom>
          <a:solidFill>
            <a:srgbClr val="FAF9F5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001609" y="3218688"/>
            <a:ext cx="183117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5A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001609" y="3493008"/>
            <a:ext cx="1831177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DeepSearch +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Intel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088819" y="3154680"/>
            <a:ext cx="2014057" cy="868680"/>
          </a:xfrm>
          <a:prstGeom prst="rect">
            <a:avLst/>
          </a:prstGeom>
          <a:solidFill>
            <a:srgbClr val="FAF9F5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80259" y="3218688"/>
            <a:ext cx="183117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5A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clustering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180259" y="3493008"/>
            <a:ext cx="1831177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267468" y="3154680"/>
            <a:ext cx="2014057" cy="868680"/>
          </a:xfrm>
          <a:prstGeom prst="rect">
            <a:avLst/>
          </a:prstGeom>
          <a:solidFill>
            <a:srgbClr val="FAF9F5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58908" y="3218688"/>
            <a:ext cx="183117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5A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planner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358908" y="3493008"/>
            <a:ext cx="1831177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9446118" y="3154680"/>
            <a:ext cx="2014057" cy="868680"/>
          </a:xfrm>
          <a:prstGeom prst="rect">
            <a:avLst/>
          </a:prstGeom>
          <a:solidFill>
            <a:srgbClr val="FAF9F5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537558" y="3218688"/>
            <a:ext cx="183117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5A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9537558" y="3493008"/>
            <a:ext cx="1831177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(Telegram)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48640" y="4151376"/>
            <a:ext cx="1109441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06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↓  SQL queries  +  external API calls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94360" y="4471416"/>
            <a:ext cx="5410048" cy="12344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0" name="Shape 38"/>
          <p:cNvSpPr/>
          <p:nvPr/>
        </p:nvSpPr>
        <p:spPr>
          <a:xfrm>
            <a:off x="548640" y="4425696"/>
            <a:ext cx="5410048" cy="1234440"/>
          </a:xfrm>
          <a:prstGeom prst="rect">
            <a:avLst/>
          </a:prstGeom>
          <a:solidFill>
            <a:srgbClr val="FAF9F5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1520" y="4517136"/>
            <a:ext cx="50442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06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DATABASE — SQLite (better-sqlite3)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31520" y="4828032"/>
            <a:ext cx="504428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sessions · sources · plans · clusters · workspaces · workspace_items · telegram_links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278728" y="4471416"/>
            <a:ext cx="5410048" cy="12344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4" name="Shape 42"/>
          <p:cNvSpPr/>
          <p:nvPr/>
        </p:nvSpPr>
        <p:spPr>
          <a:xfrm>
            <a:off x="6233008" y="4425696"/>
            <a:ext cx="5410048" cy="1234440"/>
          </a:xfrm>
          <a:prstGeom prst="rect">
            <a:avLst/>
          </a:prstGeom>
          <a:solidFill>
            <a:srgbClr val="F4F1EA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15888" y="4517136"/>
            <a:ext cx="50442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06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EXTERNAL SERVICES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415888" y="4846320"/>
            <a:ext cx="1276502" cy="292608"/>
          </a:xfrm>
          <a:prstGeom prst="rect">
            <a:avLst/>
          </a:prstGeom>
          <a:solidFill>
            <a:srgbClr val="FAF9F5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15888" y="4846320"/>
            <a:ext cx="127650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Tavily (web)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7829550" y="4846320"/>
            <a:ext cx="1106424" cy="292608"/>
          </a:xfrm>
          <a:prstGeom prst="rect">
            <a:avLst/>
          </a:prstGeom>
          <a:solidFill>
            <a:srgbClr val="FAF9F5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829550" y="4846320"/>
            <a:ext cx="1106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 API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9073134" y="4846320"/>
            <a:ext cx="1021385" cy="292608"/>
          </a:xfrm>
          <a:prstGeom prst="rect">
            <a:avLst/>
          </a:prstGeom>
          <a:solidFill>
            <a:srgbClr val="FAF9F5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073134" y="4846320"/>
            <a:ext cx="102138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arXiv API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415888" y="5212080"/>
            <a:ext cx="1786738" cy="292608"/>
          </a:xfrm>
          <a:prstGeom prst="rect">
            <a:avLst/>
          </a:prstGeom>
          <a:solidFill>
            <a:srgbClr val="FAF9F5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415888" y="5212080"/>
            <a:ext cx="178673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Groq Llama-3.3-70B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8339785" y="5212080"/>
            <a:ext cx="1616659" cy="292608"/>
          </a:xfrm>
          <a:prstGeom prst="rect">
            <a:avLst/>
          </a:prstGeom>
          <a:solidFill>
            <a:srgbClr val="FAF9F5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339785" y="5212080"/>
            <a:ext cx="161665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Telegram Bot API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10180015" y="647395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B8B2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iNSIGHTS  •  04 / 09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993392" cy="292608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548640"/>
            <a:ext cx="82296" cy="82296"/>
          </a:xfrm>
          <a:prstGeom prst="rect">
            <a:avLst/>
          </a:prstGeom>
          <a:solidFill>
            <a:srgbClr val="C85A17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457200"/>
            <a:ext cx="17190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kern="0" spc="100" dirty="0">
                <a:solidFill>
                  <a:srgbClr val="A09A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TECH STACK &amp; API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6E2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Under the Hood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03504" y="1655064"/>
            <a:ext cx="5394960" cy="47091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600200"/>
            <a:ext cx="5394960" cy="4709160"/>
          </a:xfrm>
          <a:prstGeom prst="rect">
            <a:avLst/>
          </a:prstGeom>
          <a:solidFill>
            <a:srgbClr val="1A1A1A"/>
          </a:solidFill>
          <a:ln w="19050">
            <a:solidFill>
              <a:srgbClr val="333333"/>
            </a:solidFill>
            <a:prstDash val="solid"/>
          </a:ln>
        </p:spPr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63B82E66-9EC1-CA04-7A4E-8F0257699D97}"/>
              </a:ext>
            </a:extLst>
          </p:cNvPr>
          <p:cNvGrpSpPr/>
          <p:nvPr/>
        </p:nvGrpSpPr>
        <p:grpSpPr>
          <a:xfrm>
            <a:off x="822960" y="1828800"/>
            <a:ext cx="4846320" cy="4206240"/>
            <a:chOff x="822960" y="1828800"/>
            <a:chExt cx="4846320" cy="3666744"/>
          </a:xfrm>
        </p:grpSpPr>
        <p:sp>
          <p:nvSpPr>
            <p:cNvPr id="8" name="Text 6"/>
            <p:cNvSpPr/>
            <p:nvPr/>
          </p:nvSpPr>
          <p:spPr>
            <a:xfrm>
              <a:off x="822960" y="1828800"/>
              <a:ext cx="484632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700" b="1" dirty="0">
                  <a:solidFill>
                    <a:srgbClr val="E6E2D8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Tech Stack</a:t>
              </a:r>
              <a:endParaRPr lang="en-US" sz="17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822960" y="2331720"/>
              <a:ext cx="484632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b="1" kern="0" spc="50" dirty="0">
                  <a:solidFill>
                    <a:srgbClr val="A09A8E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Frontend</a:t>
              </a:r>
              <a:endParaRPr lang="en-US" sz="1100" dirty="0"/>
            </a:p>
          </p:txBody>
        </p:sp>
        <p:sp>
          <p:nvSpPr>
            <p:cNvPr id="10" name="Shape 8"/>
            <p:cNvSpPr/>
            <p:nvPr/>
          </p:nvSpPr>
          <p:spPr>
            <a:xfrm>
              <a:off x="822960" y="2660904"/>
              <a:ext cx="972922" cy="310896"/>
            </a:xfrm>
            <a:prstGeom prst="rect">
              <a:avLst/>
            </a:prstGeom>
            <a:solidFill>
              <a:srgbClr val="1E1E1E"/>
            </a:solidFill>
            <a:ln w="12700">
              <a:solidFill>
                <a:srgbClr val="333333"/>
              </a:solidFill>
              <a:prstDash val="solid"/>
            </a:ln>
          </p:spPr>
        </p:sp>
        <p:sp>
          <p:nvSpPr>
            <p:cNvPr id="11" name="Text 9"/>
            <p:cNvSpPr/>
            <p:nvPr/>
          </p:nvSpPr>
          <p:spPr>
            <a:xfrm>
              <a:off x="822960" y="2660904"/>
              <a:ext cx="972922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E6E2D8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React 19</a:t>
              </a:r>
              <a:endParaRPr lang="en-US" sz="10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1933042" y="2660904"/>
              <a:ext cx="1143000" cy="310896"/>
            </a:xfrm>
            <a:prstGeom prst="rect">
              <a:avLst/>
            </a:prstGeom>
            <a:solidFill>
              <a:srgbClr val="1E1E1E"/>
            </a:solidFill>
            <a:ln w="12700">
              <a:solidFill>
                <a:srgbClr val="333333"/>
              </a:solidFill>
              <a:prstDash val="solid"/>
            </a:ln>
          </p:spPr>
        </p:sp>
        <p:sp>
          <p:nvSpPr>
            <p:cNvPr id="13" name="Text 11"/>
            <p:cNvSpPr/>
            <p:nvPr/>
          </p:nvSpPr>
          <p:spPr>
            <a:xfrm>
              <a:off x="1933042" y="2660904"/>
              <a:ext cx="114300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E6E2D8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TypeScript</a:t>
              </a:r>
              <a:endParaRPr lang="en-US" sz="1000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3213202" y="2660904"/>
              <a:ext cx="1568196" cy="310896"/>
            </a:xfrm>
            <a:prstGeom prst="rect">
              <a:avLst/>
            </a:prstGeom>
            <a:solidFill>
              <a:srgbClr val="1E1E1E"/>
            </a:solidFill>
            <a:ln w="12700">
              <a:solidFill>
                <a:srgbClr val="333333"/>
              </a:solidFill>
              <a:prstDash val="solid"/>
            </a:ln>
          </p:spPr>
        </p:sp>
        <p:sp>
          <p:nvSpPr>
            <p:cNvPr id="15" name="Text 13"/>
            <p:cNvSpPr/>
            <p:nvPr/>
          </p:nvSpPr>
          <p:spPr>
            <a:xfrm>
              <a:off x="3213202" y="2660904"/>
              <a:ext cx="1568196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E6E2D8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Tailwind CSS v4</a:t>
              </a:r>
              <a:endParaRPr lang="en-US" sz="1000" dirty="0"/>
            </a:p>
          </p:txBody>
        </p:sp>
        <p:sp>
          <p:nvSpPr>
            <p:cNvPr id="16" name="Shape 14"/>
            <p:cNvSpPr/>
            <p:nvPr/>
          </p:nvSpPr>
          <p:spPr>
            <a:xfrm>
              <a:off x="4918558" y="2660904"/>
              <a:ext cx="632765" cy="310896"/>
            </a:xfrm>
            <a:prstGeom prst="rect">
              <a:avLst/>
            </a:prstGeom>
            <a:solidFill>
              <a:srgbClr val="1E1E1E"/>
            </a:solidFill>
            <a:ln w="12700">
              <a:solidFill>
                <a:srgbClr val="333333"/>
              </a:solidFill>
              <a:prstDash val="solid"/>
            </a:ln>
          </p:spPr>
        </p:sp>
        <p:sp>
          <p:nvSpPr>
            <p:cNvPr id="17" name="Text 15"/>
            <p:cNvSpPr/>
            <p:nvPr/>
          </p:nvSpPr>
          <p:spPr>
            <a:xfrm>
              <a:off x="4918558" y="2660904"/>
              <a:ext cx="632765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E6E2D8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Vite</a:t>
              </a:r>
              <a:endParaRPr lang="en-US" sz="1000" dirty="0"/>
            </a:p>
          </p:txBody>
        </p:sp>
        <p:sp>
          <p:nvSpPr>
            <p:cNvPr id="18" name="Shape 16"/>
            <p:cNvSpPr/>
            <p:nvPr/>
          </p:nvSpPr>
          <p:spPr>
            <a:xfrm>
              <a:off x="822960" y="3026664"/>
              <a:ext cx="1313078" cy="310896"/>
            </a:xfrm>
            <a:prstGeom prst="rect">
              <a:avLst/>
            </a:prstGeom>
            <a:solidFill>
              <a:srgbClr val="1E1E1E"/>
            </a:solidFill>
            <a:ln w="12700">
              <a:solidFill>
                <a:srgbClr val="333333"/>
              </a:solidFill>
              <a:prstDash val="solid"/>
            </a:ln>
          </p:spPr>
        </p:sp>
        <p:sp>
          <p:nvSpPr>
            <p:cNvPr id="19" name="Text 17"/>
            <p:cNvSpPr/>
            <p:nvPr/>
          </p:nvSpPr>
          <p:spPr>
            <a:xfrm>
              <a:off x="822960" y="3026664"/>
              <a:ext cx="1313078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E6E2D8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Lucide Icons</a:t>
              </a:r>
              <a:endParaRPr lang="en-US" sz="100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822960" y="3593592"/>
              <a:ext cx="484632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b="1" kern="0" spc="50" dirty="0">
                  <a:solidFill>
                    <a:srgbClr val="A09A8E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Backend</a:t>
              </a:r>
              <a:endParaRPr lang="en-US" sz="11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822960" y="3922776"/>
              <a:ext cx="887882" cy="310896"/>
            </a:xfrm>
            <a:prstGeom prst="rect">
              <a:avLst/>
            </a:prstGeom>
            <a:solidFill>
              <a:srgbClr val="1E1E1E"/>
            </a:solidFill>
            <a:ln w="12700">
              <a:solidFill>
                <a:srgbClr val="333333"/>
              </a:solidFill>
              <a:prstDash val="solid"/>
            </a:ln>
          </p:spPr>
        </p:sp>
        <p:sp>
          <p:nvSpPr>
            <p:cNvPr id="22" name="Text 20"/>
            <p:cNvSpPr/>
            <p:nvPr/>
          </p:nvSpPr>
          <p:spPr>
            <a:xfrm>
              <a:off x="822960" y="3922776"/>
              <a:ext cx="887882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E6E2D8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Node.js</a:t>
              </a:r>
              <a:endParaRPr lang="en-US" sz="1000" dirty="0"/>
            </a:p>
          </p:txBody>
        </p:sp>
        <p:sp>
          <p:nvSpPr>
            <p:cNvPr id="23" name="Shape 21"/>
            <p:cNvSpPr/>
            <p:nvPr/>
          </p:nvSpPr>
          <p:spPr>
            <a:xfrm>
              <a:off x="1848002" y="3922776"/>
              <a:ext cx="1057961" cy="310896"/>
            </a:xfrm>
            <a:prstGeom prst="rect">
              <a:avLst/>
            </a:prstGeom>
            <a:solidFill>
              <a:srgbClr val="1E1E1E"/>
            </a:solidFill>
            <a:ln w="12700">
              <a:solidFill>
                <a:srgbClr val="333333"/>
              </a:solidFill>
              <a:prstDash val="solid"/>
            </a:ln>
          </p:spPr>
        </p:sp>
        <p:sp>
          <p:nvSpPr>
            <p:cNvPr id="24" name="Text 22"/>
            <p:cNvSpPr/>
            <p:nvPr/>
          </p:nvSpPr>
          <p:spPr>
            <a:xfrm>
              <a:off x="1848002" y="3922776"/>
              <a:ext cx="1057961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E6E2D8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Express 5</a:t>
              </a:r>
              <a:endParaRPr lang="en-US" sz="1000" dirty="0"/>
            </a:p>
          </p:txBody>
        </p:sp>
        <p:sp>
          <p:nvSpPr>
            <p:cNvPr id="25" name="Shape 23"/>
            <p:cNvSpPr/>
            <p:nvPr/>
          </p:nvSpPr>
          <p:spPr>
            <a:xfrm>
              <a:off x="3043123" y="3922776"/>
              <a:ext cx="1483157" cy="310896"/>
            </a:xfrm>
            <a:prstGeom prst="rect">
              <a:avLst/>
            </a:prstGeom>
            <a:solidFill>
              <a:srgbClr val="1E1E1E"/>
            </a:solidFill>
            <a:ln w="12700">
              <a:solidFill>
                <a:srgbClr val="333333"/>
              </a:solidFill>
              <a:prstDash val="solid"/>
            </a:ln>
          </p:spPr>
        </p:sp>
        <p:sp>
          <p:nvSpPr>
            <p:cNvPr id="26" name="Text 24"/>
            <p:cNvSpPr/>
            <p:nvPr/>
          </p:nvSpPr>
          <p:spPr>
            <a:xfrm>
              <a:off x="3043123" y="3922776"/>
              <a:ext cx="1483157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E6E2D8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better-sqlite3</a:t>
              </a:r>
              <a:endParaRPr lang="en-US" sz="1000" dirty="0"/>
            </a:p>
          </p:txBody>
        </p:sp>
        <p:sp>
          <p:nvSpPr>
            <p:cNvPr id="27" name="Text 25"/>
            <p:cNvSpPr/>
            <p:nvPr/>
          </p:nvSpPr>
          <p:spPr>
            <a:xfrm>
              <a:off x="822960" y="4489704"/>
              <a:ext cx="484632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b="1" kern="0" spc="50" dirty="0">
                  <a:solidFill>
                    <a:srgbClr val="A09A8E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AI &amp; Data Providers</a:t>
              </a:r>
              <a:endParaRPr lang="en-US" sz="1100" dirty="0"/>
            </a:p>
          </p:txBody>
        </p:sp>
        <p:sp>
          <p:nvSpPr>
            <p:cNvPr id="28" name="Shape 26"/>
            <p:cNvSpPr/>
            <p:nvPr/>
          </p:nvSpPr>
          <p:spPr>
            <a:xfrm>
              <a:off x="822960" y="4818888"/>
              <a:ext cx="1993392" cy="310896"/>
            </a:xfrm>
            <a:prstGeom prst="rect">
              <a:avLst/>
            </a:prstGeom>
            <a:solidFill>
              <a:srgbClr val="1E1E1E"/>
            </a:solidFill>
            <a:ln w="12700">
              <a:solidFill>
                <a:srgbClr val="333333"/>
              </a:solidFill>
              <a:prstDash val="solid"/>
            </a:ln>
          </p:spPr>
        </p:sp>
        <p:sp>
          <p:nvSpPr>
            <p:cNvPr id="29" name="Text 27"/>
            <p:cNvSpPr/>
            <p:nvPr/>
          </p:nvSpPr>
          <p:spPr>
            <a:xfrm>
              <a:off x="822960" y="4818888"/>
              <a:ext cx="1993392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E6E2D8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Groq — Llama 3.3 70B</a:t>
              </a:r>
              <a:endParaRPr lang="en-US" sz="1000" dirty="0"/>
            </a:p>
          </p:txBody>
        </p:sp>
        <p:sp>
          <p:nvSpPr>
            <p:cNvPr id="30" name="Shape 28"/>
            <p:cNvSpPr/>
            <p:nvPr/>
          </p:nvSpPr>
          <p:spPr>
            <a:xfrm>
              <a:off x="2953512" y="4818888"/>
              <a:ext cx="802843" cy="310896"/>
            </a:xfrm>
            <a:prstGeom prst="rect">
              <a:avLst/>
            </a:prstGeom>
            <a:solidFill>
              <a:srgbClr val="1E1E1E"/>
            </a:solidFill>
            <a:ln w="12700">
              <a:solidFill>
                <a:srgbClr val="333333"/>
              </a:solidFill>
              <a:prstDash val="solid"/>
            </a:ln>
          </p:spPr>
        </p:sp>
        <p:sp>
          <p:nvSpPr>
            <p:cNvPr id="31" name="Text 29"/>
            <p:cNvSpPr/>
            <p:nvPr/>
          </p:nvSpPr>
          <p:spPr>
            <a:xfrm>
              <a:off x="2953512" y="4818888"/>
              <a:ext cx="802843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E6E2D8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Tavily</a:t>
              </a:r>
              <a:endParaRPr lang="en-US" sz="1000" dirty="0"/>
            </a:p>
          </p:txBody>
        </p:sp>
        <p:sp>
          <p:nvSpPr>
            <p:cNvPr id="32" name="Shape 30"/>
            <p:cNvSpPr/>
            <p:nvPr/>
          </p:nvSpPr>
          <p:spPr>
            <a:xfrm>
              <a:off x="3893515" y="4818888"/>
              <a:ext cx="1143000" cy="310896"/>
            </a:xfrm>
            <a:prstGeom prst="rect">
              <a:avLst/>
            </a:prstGeom>
            <a:solidFill>
              <a:srgbClr val="1E1E1E"/>
            </a:solidFill>
            <a:ln w="12700">
              <a:solidFill>
                <a:srgbClr val="333333"/>
              </a:solidFill>
              <a:prstDash val="solid"/>
            </a:ln>
          </p:spPr>
        </p:sp>
        <p:sp>
          <p:nvSpPr>
            <p:cNvPr id="33" name="Text 31"/>
            <p:cNvSpPr/>
            <p:nvPr/>
          </p:nvSpPr>
          <p:spPr>
            <a:xfrm>
              <a:off x="3893515" y="4818888"/>
              <a:ext cx="114300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E6E2D8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GitHub API</a:t>
              </a:r>
              <a:endParaRPr lang="en-US" sz="1000" dirty="0"/>
            </a:p>
          </p:txBody>
        </p:sp>
        <p:sp>
          <p:nvSpPr>
            <p:cNvPr id="34" name="Shape 32"/>
            <p:cNvSpPr/>
            <p:nvPr/>
          </p:nvSpPr>
          <p:spPr>
            <a:xfrm>
              <a:off x="822960" y="5184648"/>
              <a:ext cx="1057961" cy="310896"/>
            </a:xfrm>
            <a:prstGeom prst="rect">
              <a:avLst/>
            </a:prstGeom>
            <a:solidFill>
              <a:srgbClr val="1E1E1E"/>
            </a:solidFill>
            <a:ln w="12700">
              <a:solidFill>
                <a:srgbClr val="333333"/>
              </a:solidFill>
              <a:prstDash val="solid"/>
            </a:ln>
          </p:spPr>
        </p:sp>
        <p:sp>
          <p:nvSpPr>
            <p:cNvPr id="35" name="Text 33"/>
            <p:cNvSpPr/>
            <p:nvPr/>
          </p:nvSpPr>
          <p:spPr>
            <a:xfrm>
              <a:off x="822960" y="5184648"/>
              <a:ext cx="1057961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E6E2D8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arXiv API</a:t>
              </a:r>
              <a:endParaRPr lang="en-US" sz="1000" dirty="0"/>
            </a:p>
          </p:txBody>
        </p:sp>
        <p:sp>
          <p:nvSpPr>
            <p:cNvPr id="36" name="Shape 34"/>
            <p:cNvSpPr/>
            <p:nvPr/>
          </p:nvSpPr>
          <p:spPr>
            <a:xfrm>
              <a:off x="2018081" y="5184648"/>
              <a:ext cx="1653235" cy="310896"/>
            </a:xfrm>
            <a:prstGeom prst="rect">
              <a:avLst/>
            </a:prstGeom>
            <a:solidFill>
              <a:srgbClr val="1E1E1E"/>
            </a:solidFill>
            <a:ln w="12700">
              <a:solidFill>
                <a:srgbClr val="333333"/>
              </a:solidFill>
              <a:prstDash val="solid"/>
            </a:ln>
          </p:spPr>
        </p:sp>
        <p:sp>
          <p:nvSpPr>
            <p:cNvPr id="37" name="Text 35"/>
            <p:cNvSpPr/>
            <p:nvPr/>
          </p:nvSpPr>
          <p:spPr>
            <a:xfrm>
              <a:off x="2018081" y="5184648"/>
              <a:ext cx="1653235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E6E2D8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Telegram Bot API</a:t>
              </a:r>
              <a:endParaRPr lang="en-US" sz="1000" dirty="0"/>
            </a:p>
          </p:txBody>
        </p:sp>
      </p:grpSp>
      <p:sp>
        <p:nvSpPr>
          <p:cNvPr id="38" name="Shape 36"/>
          <p:cNvSpPr/>
          <p:nvPr/>
        </p:nvSpPr>
        <p:spPr>
          <a:xfrm>
            <a:off x="6318504" y="1655064"/>
            <a:ext cx="5394960" cy="47091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9" name="Shape 37"/>
          <p:cNvSpPr/>
          <p:nvPr/>
        </p:nvSpPr>
        <p:spPr>
          <a:xfrm>
            <a:off x="6263640" y="1600200"/>
            <a:ext cx="5394960" cy="4709160"/>
          </a:xfrm>
          <a:prstGeom prst="rect">
            <a:avLst/>
          </a:prstGeom>
          <a:solidFill>
            <a:srgbClr val="000000"/>
          </a:solidFill>
          <a:ln w="19050">
            <a:solidFill>
              <a:srgbClr val="333333"/>
            </a:solidFill>
            <a:prstDash val="solid"/>
          </a:ln>
        </p:spPr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6916EB1A-858D-E39F-AD87-F82C1CB72525}"/>
              </a:ext>
            </a:extLst>
          </p:cNvPr>
          <p:cNvGrpSpPr/>
          <p:nvPr/>
        </p:nvGrpSpPr>
        <p:grpSpPr>
          <a:xfrm>
            <a:off x="6515100" y="1744824"/>
            <a:ext cx="4846320" cy="3229512"/>
            <a:chOff x="6537960" y="1828800"/>
            <a:chExt cx="4846320" cy="4297680"/>
          </a:xfrm>
        </p:grpSpPr>
        <p:sp>
          <p:nvSpPr>
            <p:cNvPr id="40" name="Text 38"/>
            <p:cNvSpPr/>
            <p:nvPr/>
          </p:nvSpPr>
          <p:spPr>
            <a:xfrm>
              <a:off x="6537960" y="1828800"/>
              <a:ext cx="484632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700" b="1" dirty="0">
                  <a:solidFill>
                    <a:srgbClr val="E6E2D8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Key REST Endpoints</a:t>
              </a:r>
              <a:endParaRPr lang="en-US" sz="1700" dirty="0"/>
            </a:p>
          </p:txBody>
        </p:sp>
        <p:sp>
          <p:nvSpPr>
            <p:cNvPr id="41" name="Text 39"/>
            <p:cNvSpPr/>
            <p:nvPr/>
          </p:nvSpPr>
          <p:spPr>
            <a:xfrm>
              <a:off x="6537960" y="2286000"/>
              <a:ext cx="4846320" cy="384048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C85A17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POST    </a:t>
              </a:r>
              <a:r>
                <a:rPr lang="en-US" sz="1400" dirty="0">
                  <a:solidFill>
                    <a:srgbClr val="E6E2D8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/api/sessions
</a:t>
              </a:r>
              <a:endParaRPr lang="en-US" sz="1400" dirty="0"/>
            </a:p>
            <a:p>
              <a:pPr marL="0" indent="0">
                <a:buNone/>
              </a:pPr>
              <a:r>
                <a:rPr lang="en-US" sz="1400" b="1" dirty="0">
                  <a:solidFill>
                    <a:srgbClr val="C85A17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GET     </a:t>
              </a:r>
              <a:r>
                <a:rPr lang="en-US" sz="1400" dirty="0">
                  <a:solidFill>
                    <a:srgbClr val="E6E2D8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/api/sessions/:id/deepsearch
</a:t>
              </a:r>
              <a:endParaRPr lang="en-US" sz="1400" dirty="0"/>
            </a:p>
            <a:p>
              <a:pPr marL="0" indent="0">
                <a:buNone/>
              </a:pPr>
              <a:r>
                <a:rPr lang="en-US" sz="1400" b="1" dirty="0">
                  <a:solidFill>
                    <a:srgbClr val="C85A17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POST    </a:t>
              </a:r>
              <a:r>
                <a:rPr lang="en-US" sz="1400" dirty="0">
                  <a:solidFill>
                    <a:srgbClr val="E6E2D8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/api/sessions/:id/refresh
</a:t>
              </a:r>
              <a:endParaRPr lang="en-US" sz="1400" dirty="0"/>
            </a:p>
            <a:p>
              <a:pPr marL="0" indent="0">
                <a:buNone/>
              </a:pPr>
              <a:r>
                <a:rPr lang="en-US" sz="1400" b="1" dirty="0">
                  <a:solidFill>
                    <a:srgbClr val="C85A17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GET     </a:t>
              </a:r>
              <a:r>
                <a:rPr lang="en-US" sz="1400" dirty="0">
                  <a:solidFill>
                    <a:srgbClr val="E6E2D8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/api/sessions/:id/clusters
</a:t>
              </a:r>
              <a:endParaRPr lang="en-US" sz="1400" dirty="0"/>
            </a:p>
            <a:p>
              <a:pPr marL="0" indent="0">
                <a:buNone/>
              </a:pPr>
              <a:r>
                <a:rPr lang="en-US" sz="1400" b="1" dirty="0">
                  <a:solidFill>
                    <a:srgbClr val="C85A17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GET     </a:t>
              </a:r>
              <a:r>
                <a:rPr lang="en-US" sz="1400" dirty="0">
                  <a:solidFill>
                    <a:srgbClr val="E6E2D8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/api/sessions/:id/plan
</a:t>
              </a:r>
              <a:endParaRPr lang="en-US" sz="1400" dirty="0"/>
            </a:p>
            <a:p>
              <a:pPr marL="0" indent="0">
                <a:buNone/>
              </a:pPr>
              <a:r>
                <a:rPr lang="en-US" sz="1400" b="1" dirty="0">
                  <a:solidFill>
                    <a:srgbClr val="C85A17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GET     </a:t>
              </a:r>
              <a:r>
                <a:rPr lang="en-US" sz="1400" dirty="0">
                  <a:solidFill>
                    <a:srgbClr val="E6E2D8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/api/dashboard/:userId
</a:t>
              </a:r>
              <a:endParaRPr lang="en-US" sz="1400" dirty="0"/>
            </a:p>
            <a:p>
              <a:pPr marL="0" indent="0">
                <a:buNone/>
              </a:pPr>
              <a:r>
                <a:rPr lang="en-US" sz="1400" b="1" dirty="0">
                  <a:solidFill>
                    <a:srgbClr val="C85A17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GET     </a:t>
              </a:r>
              <a:r>
                <a:rPr lang="en-US" sz="1400" dirty="0">
                  <a:solidFill>
                    <a:srgbClr val="E6E2D8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/api/workspaces/:userId
</a:t>
              </a:r>
              <a:endParaRPr lang="en-US" sz="1400" dirty="0"/>
            </a:p>
            <a:p>
              <a:pPr marL="0" indent="0">
                <a:buNone/>
              </a:pPr>
              <a:r>
                <a:rPr lang="en-US" sz="1400" b="1" dirty="0">
                  <a:solidFill>
                    <a:srgbClr val="C85A17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POST    </a:t>
              </a:r>
              <a:r>
                <a:rPr lang="en-US" sz="1400" dirty="0">
                  <a:solidFill>
                    <a:srgbClr val="E6E2D8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/api/workspaces
</a:t>
              </a:r>
              <a:endParaRPr lang="en-US" sz="1400" dirty="0"/>
            </a:p>
            <a:p>
              <a:pPr marL="0" indent="0">
                <a:buNone/>
              </a:pPr>
              <a:r>
                <a:rPr lang="en-US" sz="1400" b="1" dirty="0">
                  <a:solidFill>
                    <a:srgbClr val="C85A17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POST    </a:t>
              </a:r>
              <a:r>
                <a:rPr lang="en-US" sz="1400" dirty="0">
                  <a:solidFill>
                    <a:srgbClr val="E6E2D8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/api/workspaces/:id/save
</a:t>
              </a:r>
              <a:endParaRPr lang="en-US" sz="1400" dirty="0"/>
            </a:p>
            <a:p>
              <a:pPr marL="0" indent="0">
                <a:buNone/>
              </a:pPr>
              <a:r>
                <a:rPr lang="en-US" sz="1400" b="1" dirty="0">
                  <a:solidFill>
                    <a:srgbClr val="C85A17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DELETE  </a:t>
              </a:r>
              <a:r>
                <a:rPr lang="en-US" sz="1400" dirty="0">
                  <a:solidFill>
                    <a:srgbClr val="E6E2D8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/api/workspaces/:id/items/:itemId</a:t>
              </a:r>
              <a:endParaRPr lang="en-US" sz="1400" dirty="0"/>
            </a:p>
          </p:txBody>
        </p:sp>
      </p:grpSp>
      <p:sp>
        <p:nvSpPr>
          <p:cNvPr id="42" name="Text 40"/>
          <p:cNvSpPr/>
          <p:nvPr/>
        </p:nvSpPr>
        <p:spPr>
          <a:xfrm>
            <a:off x="10180015" y="647395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iNSIGHTS  •  05 / 09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4681728" cy="292608"/>
          </a:xfrm>
          <a:prstGeom prst="rect">
            <a:avLst/>
          </a:prstGeom>
          <a:solidFill>
            <a:srgbClr val="EFECE6"/>
          </a:solidFill>
          <a:ln w="12700">
            <a:solidFill>
              <a:srgbClr val="E7E2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475488"/>
            <a:ext cx="82296" cy="82296"/>
          </a:xfrm>
          <a:prstGeom prst="rect">
            <a:avLst/>
          </a:prstGeom>
          <a:solidFill>
            <a:srgbClr val="C85A17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384048"/>
            <a:ext cx="44074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kern="0" spc="100" dirty="0">
                <a:solidFill>
                  <a:srgbClr val="706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iNSIGHTS LAYER 2 — 8 / 8 MODULES IMPLEMENTED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Features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94360" y="1463040"/>
            <a:ext cx="2602154" cy="233172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417320"/>
            <a:ext cx="2602154" cy="2331720"/>
          </a:xfrm>
          <a:prstGeom prst="rect">
            <a:avLst/>
          </a:prstGeom>
          <a:solidFill>
            <a:srgbClr val="FAF9F5"/>
          </a:solidFill>
          <a:ln w="22225">
            <a:solidFill>
              <a:srgbClr val="1A1A1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3232" y="1581912"/>
            <a:ext cx="457200" cy="457200"/>
          </a:xfrm>
          <a:prstGeom prst="ellipse">
            <a:avLst/>
          </a:prstGeom>
          <a:solidFill>
            <a:srgbClr val="C85A17"/>
          </a:solidFill>
          <a:ln/>
        </p:spPr>
      </p:sp>
      <p:sp>
        <p:nvSpPr>
          <p:cNvPr id="9" name="Text 7"/>
          <p:cNvSpPr/>
          <p:nvPr/>
        </p:nvSpPr>
        <p:spPr>
          <a:xfrm>
            <a:off x="713232" y="1581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🔍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13232" y="2112264"/>
            <a:ext cx="227297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DeepSearch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13232" y="2606040"/>
            <a:ext cx="227297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24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Multi-source citation-backed synthesis: Tavily + GitHub + arXiv.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425114" y="1463040"/>
            <a:ext cx="2602154" cy="233172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3" name="Shape 11"/>
          <p:cNvSpPr/>
          <p:nvPr/>
        </p:nvSpPr>
        <p:spPr>
          <a:xfrm>
            <a:off x="3379394" y="1417320"/>
            <a:ext cx="2602154" cy="2331720"/>
          </a:xfrm>
          <a:prstGeom prst="rect">
            <a:avLst/>
          </a:prstGeom>
          <a:solidFill>
            <a:srgbClr val="FAF9F5"/>
          </a:solidFill>
          <a:ln w="22225">
            <a:solidFill>
              <a:srgbClr val="1A1A1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43986" y="1581912"/>
            <a:ext cx="457200" cy="457200"/>
          </a:xfrm>
          <a:prstGeom prst="ellipse">
            <a:avLst/>
          </a:prstGeom>
          <a:solidFill>
            <a:srgbClr val="C85A17"/>
          </a:solidFill>
          <a:ln/>
        </p:spPr>
      </p:sp>
      <p:sp>
        <p:nvSpPr>
          <p:cNvPr id="15" name="Text 13"/>
          <p:cNvSpPr/>
          <p:nvPr/>
        </p:nvSpPr>
        <p:spPr>
          <a:xfrm>
            <a:off x="3543986" y="1581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🌐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3543986" y="2112264"/>
            <a:ext cx="227297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Real-time Web Intel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543986" y="2606040"/>
            <a:ext cx="227297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24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On-demand refresh surfaces new sources; citations stay stable.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255868" y="1463040"/>
            <a:ext cx="2602154" cy="233172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9" name="Shape 17"/>
          <p:cNvSpPr/>
          <p:nvPr/>
        </p:nvSpPr>
        <p:spPr>
          <a:xfrm>
            <a:off x="6210148" y="1417320"/>
            <a:ext cx="2602154" cy="2331720"/>
          </a:xfrm>
          <a:prstGeom prst="rect">
            <a:avLst/>
          </a:prstGeom>
          <a:solidFill>
            <a:srgbClr val="FAF9F5"/>
          </a:solidFill>
          <a:ln w="22225">
            <a:solidFill>
              <a:srgbClr val="1A1A1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74740" y="1581912"/>
            <a:ext cx="457200" cy="457200"/>
          </a:xfrm>
          <a:prstGeom prst="ellipse">
            <a:avLst/>
          </a:prstGeom>
          <a:solidFill>
            <a:srgbClr val="C85A17"/>
          </a:solidFill>
          <a:ln/>
        </p:spPr>
      </p:sp>
      <p:sp>
        <p:nvSpPr>
          <p:cNvPr id="21" name="Text 19"/>
          <p:cNvSpPr/>
          <p:nvPr/>
        </p:nvSpPr>
        <p:spPr>
          <a:xfrm>
            <a:off x="6374740" y="1581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🧠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374740" y="2112264"/>
            <a:ext cx="227297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Knowledge Clustering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374740" y="2606040"/>
            <a:ext cx="227297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24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sources into 3–6 auto-labeled themes.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9086621" y="1463040"/>
            <a:ext cx="2602154" cy="233172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5" name="Shape 23"/>
          <p:cNvSpPr/>
          <p:nvPr/>
        </p:nvSpPr>
        <p:spPr>
          <a:xfrm>
            <a:off x="9040901" y="1417320"/>
            <a:ext cx="2602154" cy="2331720"/>
          </a:xfrm>
          <a:prstGeom prst="rect">
            <a:avLst/>
          </a:prstGeom>
          <a:solidFill>
            <a:srgbClr val="FAF9F5"/>
          </a:solidFill>
          <a:ln w="22225">
            <a:solidFill>
              <a:srgbClr val="1A1A1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205493" y="1581912"/>
            <a:ext cx="457200" cy="457200"/>
          </a:xfrm>
          <a:prstGeom prst="ellipse">
            <a:avLst/>
          </a:prstGeom>
          <a:solidFill>
            <a:srgbClr val="C85A17"/>
          </a:solidFill>
          <a:ln/>
        </p:spPr>
      </p:sp>
      <p:sp>
        <p:nvSpPr>
          <p:cNvPr id="27" name="Text 25"/>
          <p:cNvSpPr/>
          <p:nvPr/>
        </p:nvSpPr>
        <p:spPr>
          <a:xfrm>
            <a:off x="9205493" y="1581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🚀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9205493" y="2112264"/>
            <a:ext cx="227297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HUB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205493" y="2606040"/>
            <a:ext cx="227297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24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stack, milestones &amp; datasets — cached, exportable.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94360" y="3995928"/>
            <a:ext cx="2602154" cy="233172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1" name="Shape 29"/>
          <p:cNvSpPr/>
          <p:nvPr/>
        </p:nvSpPr>
        <p:spPr>
          <a:xfrm>
            <a:off x="548640" y="3950208"/>
            <a:ext cx="2602154" cy="2331720"/>
          </a:xfrm>
          <a:prstGeom prst="rect">
            <a:avLst/>
          </a:prstGeom>
          <a:solidFill>
            <a:srgbClr val="FAF9F5"/>
          </a:solidFill>
          <a:ln w="22225">
            <a:solidFill>
              <a:srgbClr val="1A1A1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13232" y="4114800"/>
            <a:ext cx="457200" cy="457200"/>
          </a:xfrm>
          <a:prstGeom prst="ellipse">
            <a:avLst/>
          </a:prstGeom>
          <a:solidFill>
            <a:srgbClr val="C85A17"/>
          </a:solidFill>
          <a:ln/>
        </p:spPr>
      </p:sp>
      <p:sp>
        <p:nvSpPr>
          <p:cNvPr id="33" name="Text 31"/>
          <p:cNvSpPr/>
          <p:nvPr/>
        </p:nvSpPr>
        <p:spPr>
          <a:xfrm>
            <a:off x="713232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713232" y="4645152"/>
            <a:ext cx="227297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Personalized Dashboard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13232" y="5138928"/>
            <a:ext cx="227297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24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Ideas, sources &amp; plans tracked at a glance.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425114" y="3995928"/>
            <a:ext cx="2602154" cy="233172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7" name="Shape 35"/>
          <p:cNvSpPr/>
          <p:nvPr/>
        </p:nvSpPr>
        <p:spPr>
          <a:xfrm>
            <a:off x="3379394" y="3950208"/>
            <a:ext cx="2602154" cy="2331720"/>
          </a:xfrm>
          <a:prstGeom prst="rect">
            <a:avLst/>
          </a:prstGeom>
          <a:solidFill>
            <a:srgbClr val="FAF9F5"/>
          </a:solidFill>
          <a:ln w="22225">
            <a:solidFill>
              <a:srgbClr val="1A1A1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543986" y="4114800"/>
            <a:ext cx="457200" cy="457200"/>
          </a:xfrm>
          <a:prstGeom prst="ellipse">
            <a:avLst/>
          </a:prstGeom>
          <a:solidFill>
            <a:srgbClr val="C85A17"/>
          </a:solidFill>
          <a:ln/>
        </p:spPr>
      </p:sp>
      <p:sp>
        <p:nvSpPr>
          <p:cNvPr id="39" name="Text 37"/>
          <p:cNvSpPr/>
          <p:nvPr/>
        </p:nvSpPr>
        <p:spPr>
          <a:xfrm>
            <a:off x="3543986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📚</a:t>
            </a:r>
            <a:endParaRPr lang="en-US" sz="2400" dirty="0"/>
          </a:p>
        </p:txBody>
      </p:sp>
      <p:sp>
        <p:nvSpPr>
          <p:cNvPr id="40" name="Text 38"/>
          <p:cNvSpPr/>
          <p:nvPr/>
        </p:nvSpPr>
        <p:spPr>
          <a:xfrm>
            <a:off x="3543986" y="4645152"/>
            <a:ext cx="227297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Workspaces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3543986" y="5138928"/>
            <a:ext cx="227297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24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 citations; one-click BibTeX / IEEE export.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6255868" y="3995928"/>
            <a:ext cx="2602154" cy="233172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3" name="Shape 41"/>
          <p:cNvSpPr/>
          <p:nvPr/>
        </p:nvSpPr>
        <p:spPr>
          <a:xfrm>
            <a:off x="6210148" y="3950208"/>
            <a:ext cx="2602154" cy="2331720"/>
          </a:xfrm>
          <a:prstGeom prst="rect">
            <a:avLst/>
          </a:prstGeom>
          <a:solidFill>
            <a:srgbClr val="FAF9F5"/>
          </a:solidFill>
          <a:ln w="22225">
            <a:solidFill>
              <a:srgbClr val="1A1A1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374740" y="4114800"/>
            <a:ext cx="457200" cy="457200"/>
          </a:xfrm>
          <a:prstGeom prst="ellipse">
            <a:avLst/>
          </a:prstGeom>
          <a:solidFill>
            <a:srgbClr val="C85A17"/>
          </a:solidFill>
          <a:ln/>
        </p:spPr>
      </p:sp>
      <p:sp>
        <p:nvSpPr>
          <p:cNvPr id="45" name="Text 43"/>
          <p:cNvSpPr/>
          <p:nvPr/>
        </p:nvSpPr>
        <p:spPr>
          <a:xfrm>
            <a:off x="637474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  <p:sp>
        <p:nvSpPr>
          <p:cNvPr id="46" name="Text 44"/>
          <p:cNvSpPr/>
          <p:nvPr/>
        </p:nvSpPr>
        <p:spPr>
          <a:xfrm>
            <a:off x="6374740" y="4645152"/>
            <a:ext cx="227297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Agents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374740" y="5138928"/>
            <a:ext cx="227297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24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bot: /status, /latest, /help &amp; scheduled reminders.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9086621" y="3995928"/>
            <a:ext cx="2602154" cy="233172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9" name="Shape 47"/>
          <p:cNvSpPr/>
          <p:nvPr/>
        </p:nvSpPr>
        <p:spPr>
          <a:xfrm>
            <a:off x="9040901" y="3950208"/>
            <a:ext cx="2602154" cy="2331720"/>
          </a:xfrm>
          <a:prstGeom prst="rect">
            <a:avLst/>
          </a:prstGeom>
          <a:solidFill>
            <a:srgbClr val="FAF9F5"/>
          </a:solidFill>
          <a:ln w="22225">
            <a:solidFill>
              <a:srgbClr val="1A1A1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205493" y="4114800"/>
            <a:ext cx="457200" cy="457200"/>
          </a:xfrm>
          <a:prstGeom prst="ellipse">
            <a:avLst/>
          </a:prstGeom>
          <a:solidFill>
            <a:srgbClr val="C85A17"/>
          </a:solidFill>
          <a:ln/>
        </p:spPr>
      </p:sp>
      <p:sp>
        <p:nvSpPr>
          <p:cNvPr id="51" name="Text 49"/>
          <p:cNvSpPr/>
          <p:nvPr/>
        </p:nvSpPr>
        <p:spPr>
          <a:xfrm>
            <a:off x="9205493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🌍</a:t>
            </a:r>
            <a:endParaRPr lang="en-US" sz="2400" dirty="0"/>
          </a:p>
        </p:txBody>
      </p:sp>
      <p:sp>
        <p:nvSpPr>
          <p:cNvPr id="52" name="Text 50"/>
          <p:cNvSpPr/>
          <p:nvPr/>
        </p:nvSpPr>
        <p:spPr>
          <a:xfrm>
            <a:off x="9205493" y="4645152"/>
            <a:ext cx="227297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Multilingual Support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9205493" y="5138928"/>
            <a:ext cx="227297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24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Summaries in 8 languages — incl. Hindi, Marathi, Tamil.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10180015" y="647395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B8B2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iNSIGHTS  •  06 / 09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801368" cy="292608"/>
          </a:xfrm>
          <a:prstGeom prst="rect">
            <a:avLst/>
          </a:prstGeom>
          <a:solidFill>
            <a:srgbClr val="EFECE6"/>
          </a:solidFill>
          <a:ln w="12700">
            <a:solidFill>
              <a:srgbClr val="E7E2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548640"/>
            <a:ext cx="82296" cy="82296"/>
          </a:xfrm>
          <a:prstGeom prst="rect">
            <a:avLst/>
          </a:prstGeom>
          <a:solidFill>
            <a:srgbClr val="C85A17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457200"/>
            <a:ext cx="15270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kern="0" spc="100" dirty="0">
                <a:solidFill>
                  <a:srgbClr val="706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IT MATTERS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 &amp; Feasibility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03504" y="1655064"/>
            <a:ext cx="5440680" cy="28803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600200"/>
            <a:ext cx="5440680" cy="2880360"/>
          </a:xfrm>
          <a:prstGeom prst="rect">
            <a:avLst/>
          </a:prstGeom>
          <a:solidFill>
            <a:srgbClr val="FAF9F5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828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Benefits &amp; Real-World Impact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822960" y="2286000"/>
            <a:ext cx="4937760" cy="19500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50000"/>
              </a:lnSpc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Students, hackathon teams &amp; early-stage developers</a:t>
            </a:r>
            <a:endParaRPr lang="en-US" sz="1400" dirty="0"/>
          </a:p>
          <a:p>
            <a:pPr marL="228600" indent="-228600">
              <a:lnSpc>
                <a:spcPct val="150000"/>
              </a:lnSpc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Cuts idea-to-plan time from days to minutes</a:t>
            </a:r>
            <a:endParaRPr lang="en-US" sz="1400" dirty="0"/>
          </a:p>
          <a:p>
            <a:pPr marL="228600" indent="-228600">
              <a:lnSpc>
                <a:spcPct val="150000"/>
              </a:lnSpc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risk from outdated or unreliable information</a:t>
            </a:r>
            <a:endParaRPr lang="en-US" sz="1400" dirty="0"/>
          </a:p>
          <a:p>
            <a:pPr marL="228600" indent="-228600">
              <a:lnSpc>
                <a:spcPct val="150000"/>
              </a:lnSpc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confidence with verifiable, cited research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72784" y="1655064"/>
            <a:ext cx="5440680" cy="28803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1" name="Shape 9"/>
          <p:cNvSpPr/>
          <p:nvPr/>
        </p:nvSpPr>
        <p:spPr>
          <a:xfrm>
            <a:off x="6217920" y="1600200"/>
            <a:ext cx="5440680" cy="2880360"/>
          </a:xfrm>
          <a:prstGeom prst="rect">
            <a:avLst/>
          </a:prstGeom>
          <a:solidFill>
            <a:srgbClr val="F4F1EA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1828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Scalability &amp; Feasibility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6492240" y="2286000"/>
            <a:ext cx="493776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22000"/>
              </a:lnSpc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Express backend — each Layer 2 capability is its own module</a:t>
            </a:r>
            <a:endParaRPr lang="en-US" sz="1400" dirty="0"/>
          </a:p>
          <a:p>
            <a:pPr marL="228600" indent="-228600">
              <a:lnSpc>
                <a:spcPct val="122000"/>
              </a:lnSpc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today, drop-in swap to Postgres for real multi-user scale</a:t>
            </a:r>
            <a:endParaRPr lang="en-US" sz="1400" dirty="0"/>
          </a:p>
          <a:p>
            <a:pPr marL="228600" indent="-228600">
              <a:lnSpc>
                <a:spcPct val="122000"/>
              </a:lnSpc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Groq's fast free-tier inference keeps AI calls cheap &amp; responsive</a:t>
            </a:r>
            <a:endParaRPr lang="en-US" sz="1400" dirty="0"/>
          </a:p>
          <a:p>
            <a:pPr marL="228600" indent="-228600">
              <a:lnSpc>
                <a:spcPct val="122000"/>
              </a:lnSpc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features (Telegram bot, Tavily) degrade gracefully if unset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3504" y="4809744"/>
            <a:ext cx="3520440" cy="141732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4754880"/>
            <a:ext cx="3520440" cy="1417320"/>
          </a:xfrm>
          <a:prstGeom prst="rect">
            <a:avLst/>
          </a:prstGeom>
          <a:solidFill>
            <a:srgbClr val="FAF9F5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4864608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C85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 / 8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731520" y="562356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50" dirty="0">
                <a:solidFill>
                  <a:srgbClr val="706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Layer 2 modules integrated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416552" y="4809744"/>
            <a:ext cx="3520440" cy="141732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9" name="Shape 17"/>
          <p:cNvSpPr/>
          <p:nvPr/>
        </p:nvSpPr>
        <p:spPr>
          <a:xfrm>
            <a:off x="4361688" y="4754880"/>
            <a:ext cx="3520440" cy="1417320"/>
          </a:xfrm>
          <a:prstGeom prst="rect">
            <a:avLst/>
          </a:prstGeom>
          <a:solidFill>
            <a:srgbClr val="FAF9F5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44568" y="4864608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C85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10x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4544568" y="562356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50" dirty="0">
                <a:solidFill>
                  <a:srgbClr val="706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Faster idea-to-plan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229600" y="4809744"/>
            <a:ext cx="3520440" cy="141732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3" name="Shape 21"/>
          <p:cNvSpPr/>
          <p:nvPr/>
        </p:nvSpPr>
        <p:spPr>
          <a:xfrm>
            <a:off x="8174736" y="4754880"/>
            <a:ext cx="3520440" cy="1417320"/>
          </a:xfrm>
          <a:prstGeom prst="rect">
            <a:avLst/>
          </a:prstGeom>
          <a:solidFill>
            <a:srgbClr val="FAF9F5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57616" y="4864608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C85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8357616" y="562356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50" dirty="0">
                <a:solidFill>
                  <a:srgbClr val="706B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Citation-backed research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180015" y="647395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B8B2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iNSIGHTS  •  08 / 09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B9D9E7-2B52-01B7-78B9-A17195AD9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0">
            <a:extLst>
              <a:ext uri="{FF2B5EF4-FFF2-40B4-BE49-F238E27FC236}">
                <a16:creationId xmlns:a16="http://schemas.microsoft.com/office/drawing/2014/main" id="{39E27C68-F0A5-A054-D852-340016D821F0}"/>
              </a:ext>
            </a:extLst>
          </p:cNvPr>
          <p:cNvSpPr/>
          <p:nvPr/>
        </p:nvSpPr>
        <p:spPr>
          <a:xfrm>
            <a:off x="548640" y="411480"/>
            <a:ext cx="3374136" cy="292608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1">
            <a:extLst>
              <a:ext uri="{FF2B5EF4-FFF2-40B4-BE49-F238E27FC236}">
                <a16:creationId xmlns:a16="http://schemas.microsoft.com/office/drawing/2014/main" id="{692D6841-2AE3-B48D-8FBC-F95C70286ABE}"/>
              </a:ext>
            </a:extLst>
          </p:cNvPr>
          <p:cNvSpPr/>
          <p:nvPr/>
        </p:nvSpPr>
        <p:spPr>
          <a:xfrm>
            <a:off x="658368" y="502920"/>
            <a:ext cx="82296" cy="82296"/>
          </a:xfrm>
          <a:prstGeom prst="rect">
            <a:avLst/>
          </a:prstGeom>
          <a:solidFill>
            <a:srgbClr val="C85A17"/>
          </a:solidFill>
          <a:ln/>
        </p:spPr>
      </p:sp>
      <p:sp>
        <p:nvSpPr>
          <p:cNvPr id="27" name="Text 2">
            <a:extLst>
              <a:ext uri="{FF2B5EF4-FFF2-40B4-BE49-F238E27FC236}">
                <a16:creationId xmlns:a16="http://schemas.microsoft.com/office/drawing/2014/main" id="{FF02D00F-F9DF-240A-2275-2D73BCE7432C}"/>
              </a:ext>
            </a:extLst>
          </p:cNvPr>
          <p:cNvSpPr/>
          <p:nvPr/>
        </p:nvSpPr>
        <p:spPr>
          <a:xfrm>
            <a:off x="822960" y="411480"/>
            <a:ext cx="30998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b="1" kern="0" spc="100" dirty="0">
                <a:solidFill>
                  <a:srgbClr val="A09A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DASHBOARD — LIGHT &amp; DARK MODE</a:t>
            </a:r>
            <a:endParaRPr lang="en-US" sz="1050" dirty="0"/>
          </a:p>
        </p:txBody>
      </p:sp>
      <p:sp>
        <p:nvSpPr>
          <p:cNvPr id="28" name="Text 3">
            <a:extLst>
              <a:ext uri="{FF2B5EF4-FFF2-40B4-BE49-F238E27FC236}">
                <a16:creationId xmlns:a16="http://schemas.microsoft.com/office/drawing/2014/main" id="{D00B59DC-7EE1-8681-97BF-1B069B0805BA}"/>
              </a:ext>
            </a:extLst>
          </p:cNvPr>
          <p:cNvSpPr/>
          <p:nvPr/>
        </p:nvSpPr>
        <p:spPr>
          <a:xfrm>
            <a:off x="548640" y="75895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6E2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Demo</a:t>
            </a:r>
            <a:endParaRPr lang="en-US" sz="3200" dirty="0"/>
          </a:p>
        </p:txBody>
      </p:sp>
      <p:sp>
        <p:nvSpPr>
          <p:cNvPr id="24" name="Shape 7">
            <a:extLst>
              <a:ext uri="{FF2B5EF4-FFF2-40B4-BE49-F238E27FC236}">
                <a16:creationId xmlns:a16="http://schemas.microsoft.com/office/drawing/2014/main" id="{A5DC215D-45A7-14EB-F9C9-24BB7C6C59A6}"/>
              </a:ext>
            </a:extLst>
          </p:cNvPr>
          <p:cNvSpPr/>
          <p:nvPr/>
        </p:nvSpPr>
        <p:spPr>
          <a:xfrm>
            <a:off x="9018604" y="1520747"/>
            <a:ext cx="2800877" cy="233736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9" name="Shape 5">
            <a:extLst>
              <a:ext uri="{FF2B5EF4-FFF2-40B4-BE49-F238E27FC236}">
                <a16:creationId xmlns:a16="http://schemas.microsoft.com/office/drawing/2014/main" id="{24967B1F-AE09-E1A4-5A57-94C2C08ABB7B}"/>
              </a:ext>
            </a:extLst>
          </p:cNvPr>
          <p:cNvSpPr/>
          <p:nvPr/>
        </p:nvSpPr>
        <p:spPr>
          <a:xfrm>
            <a:off x="604876" y="1435608"/>
            <a:ext cx="4207547" cy="2337362"/>
          </a:xfrm>
          <a:prstGeom prst="rect">
            <a:avLst/>
          </a:prstGeom>
          <a:solidFill>
            <a:srgbClr val="1E1E1E"/>
          </a:solidFill>
          <a:ln w="19050">
            <a:solidFill>
              <a:srgbClr val="333333"/>
            </a:solidFill>
            <a:prstDash val="solid"/>
          </a:ln>
        </p:spPr>
      </p:sp>
      <p:sp>
        <p:nvSpPr>
          <p:cNvPr id="30" name="Shape 8">
            <a:extLst>
              <a:ext uri="{FF2B5EF4-FFF2-40B4-BE49-F238E27FC236}">
                <a16:creationId xmlns:a16="http://schemas.microsoft.com/office/drawing/2014/main" id="{6B0F4D7A-0574-C04A-DB3E-BBF09FB5623D}"/>
              </a:ext>
            </a:extLst>
          </p:cNvPr>
          <p:cNvSpPr/>
          <p:nvPr/>
        </p:nvSpPr>
        <p:spPr>
          <a:xfrm>
            <a:off x="4938384" y="1444752"/>
            <a:ext cx="3854944" cy="2337362"/>
          </a:xfrm>
          <a:prstGeom prst="rect">
            <a:avLst/>
          </a:prstGeom>
          <a:solidFill>
            <a:srgbClr val="1E1E1E"/>
          </a:solidFill>
          <a:ln w="19050">
            <a:solidFill>
              <a:srgbClr val="333333"/>
            </a:solidFill>
            <a:prstDash val="solid"/>
          </a:ln>
        </p:spPr>
      </p:sp>
      <p:sp>
        <p:nvSpPr>
          <p:cNvPr id="31" name="Text 10">
            <a:extLst>
              <a:ext uri="{FF2B5EF4-FFF2-40B4-BE49-F238E27FC236}">
                <a16:creationId xmlns:a16="http://schemas.microsoft.com/office/drawing/2014/main" id="{D984B9FD-8D28-40F9-538F-A304B63C3C9A}"/>
              </a:ext>
            </a:extLst>
          </p:cNvPr>
          <p:cNvSpPr/>
          <p:nvPr/>
        </p:nvSpPr>
        <p:spPr>
          <a:xfrm>
            <a:off x="731520" y="4285034"/>
            <a:ext cx="107286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i="1" dirty="0">
                <a:solidFill>
                  <a:srgbClr val="C85A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“iNSIGHTS turns any raw idea into an implementation-ready project — in minutes, not weeks.”</a:t>
            </a:r>
            <a:endParaRPr lang="en-US" sz="1800" dirty="0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2D522097-48D1-4982-FA2D-7FB2CF4AE645}"/>
              </a:ext>
            </a:extLst>
          </p:cNvPr>
          <p:cNvGrpSpPr/>
          <p:nvPr/>
        </p:nvGrpSpPr>
        <p:grpSpPr>
          <a:xfrm>
            <a:off x="604876" y="1435608"/>
            <a:ext cx="4207547" cy="2593394"/>
            <a:chOff x="604876" y="1435608"/>
            <a:chExt cx="4253267" cy="2593394"/>
          </a:xfrm>
        </p:grpSpPr>
        <p:sp>
          <p:nvSpPr>
            <p:cNvPr id="41" name="Shape 4">
              <a:extLst>
                <a:ext uri="{FF2B5EF4-FFF2-40B4-BE49-F238E27FC236}">
                  <a16:creationId xmlns:a16="http://schemas.microsoft.com/office/drawing/2014/main" id="{82767285-47C6-DFF8-858B-A188DEB4F9C4}"/>
                </a:ext>
              </a:extLst>
            </p:cNvPr>
            <p:cNvSpPr/>
            <p:nvPr/>
          </p:nvSpPr>
          <p:spPr>
            <a:xfrm>
              <a:off x="650596" y="1481328"/>
              <a:ext cx="4207547" cy="2337362"/>
            </a:xfrm>
            <a:prstGeom prst="rect">
              <a:avLst/>
            </a:prstGeom>
            <a:solidFill>
              <a:srgbClr val="000000"/>
            </a:solidFill>
            <a:ln/>
          </p:spPr>
        </p:sp>
        <p:sp>
          <p:nvSpPr>
            <p:cNvPr id="42" name="Text 6">
              <a:extLst>
                <a:ext uri="{FF2B5EF4-FFF2-40B4-BE49-F238E27FC236}">
                  <a16:creationId xmlns:a16="http://schemas.microsoft.com/office/drawing/2014/main" id="{17350B8C-6DC8-8B5B-0DF6-E4FAF59FAAE6}"/>
                </a:ext>
              </a:extLst>
            </p:cNvPr>
            <p:cNvSpPr/>
            <p:nvPr/>
          </p:nvSpPr>
          <p:spPr>
            <a:xfrm>
              <a:off x="678028" y="3791258"/>
              <a:ext cx="4005939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b="1" kern="0" spc="100" dirty="0">
                  <a:solidFill>
                    <a:srgbClr val="A09A8E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LIGHT MODE</a:t>
              </a:r>
              <a:endParaRPr lang="en-US" sz="1100" dirty="0"/>
            </a:p>
          </p:txBody>
        </p:sp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38850E76-2122-C235-9B60-C86A4F0B164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0083" r="9500"/>
            <a:stretch>
              <a:fillRect/>
            </a:stretch>
          </p:blipFill>
          <p:spPr>
            <a:xfrm>
              <a:off x="604876" y="1435608"/>
              <a:ext cx="4180115" cy="2337362"/>
            </a:xfrm>
            <a:prstGeom prst="rect">
              <a:avLst/>
            </a:prstGeom>
          </p:spPr>
        </p:pic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7A8B0EA5-B626-416A-BE76-E7310481E322}"/>
              </a:ext>
            </a:extLst>
          </p:cNvPr>
          <p:cNvGrpSpPr/>
          <p:nvPr/>
        </p:nvGrpSpPr>
        <p:grpSpPr>
          <a:xfrm>
            <a:off x="4888878" y="1460427"/>
            <a:ext cx="3927310" cy="2605151"/>
            <a:chOff x="6156070" y="1460427"/>
            <a:chExt cx="3927310" cy="2605151"/>
          </a:xfrm>
        </p:grpSpPr>
        <p:sp>
          <p:nvSpPr>
            <p:cNvPr id="45" name="Shape 7">
              <a:extLst>
                <a:ext uri="{FF2B5EF4-FFF2-40B4-BE49-F238E27FC236}">
                  <a16:creationId xmlns:a16="http://schemas.microsoft.com/office/drawing/2014/main" id="{F4023CA0-9A5C-4F60-4242-CFFF699541FA}"/>
                </a:ext>
              </a:extLst>
            </p:cNvPr>
            <p:cNvSpPr/>
            <p:nvPr/>
          </p:nvSpPr>
          <p:spPr>
            <a:xfrm>
              <a:off x="6228436" y="1481328"/>
              <a:ext cx="3854944" cy="2337362"/>
            </a:xfrm>
            <a:prstGeom prst="rect">
              <a:avLst/>
            </a:prstGeom>
            <a:solidFill>
              <a:srgbClr val="000000"/>
            </a:solidFill>
            <a:ln/>
          </p:spPr>
        </p:sp>
        <p:sp>
          <p:nvSpPr>
            <p:cNvPr id="46" name="Text 9">
              <a:extLst>
                <a:ext uri="{FF2B5EF4-FFF2-40B4-BE49-F238E27FC236}">
                  <a16:creationId xmlns:a16="http://schemas.microsoft.com/office/drawing/2014/main" id="{D3558090-CD02-74FE-62E9-9D4E6F9618F2}"/>
                </a:ext>
              </a:extLst>
            </p:cNvPr>
            <p:cNvSpPr/>
            <p:nvPr/>
          </p:nvSpPr>
          <p:spPr>
            <a:xfrm>
              <a:off x="6255868" y="3791258"/>
              <a:ext cx="3781792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b="1" kern="0" spc="100" dirty="0">
                  <a:solidFill>
                    <a:srgbClr val="A09A8E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DARK MODE</a:t>
              </a:r>
              <a:endParaRPr lang="en-US" sz="1100" dirty="0"/>
            </a:p>
          </p:txBody>
        </p:sp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709A681C-1903-9D18-BBCB-9E7A4AAD8AC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156070" y="1460427"/>
              <a:ext cx="3854944" cy="2306011"/>
            </a:xfrm>
            <a:prstGeom prst="rect">
              <a:avLst/>
            </a:prstGeom>
          </p:spPr>
        </p:pic>
      </p:grpSp>
      <p:pic>
        <p:nvPicPr>
          <p:cNvPr id="48" name="Picture 47">
            <a:extLst>
              <a:ext uri="{FF2B5EF4-FFF2-40B4-BE49-F238E27FC236}">
                <a16:creationId xmlns:a16="http://schemas.microsoft.com/office/drawing/2014/main" id="{71F5A1E5-2D1C-B2D5-C52D-A85DD2C8FE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42149" y="1435608"/>
            <a:ext cx="2800877" cy="2337362"/>
          </a:xfrm>
          <a:prstGeom prst="rect">
            <a:avLst/>
          </a:prstGeom>
        </p:spPr>
      </p:pic>
      <p:sp>
        <p:nvSpPr>
          <p:cNvPr id="49" name="Text 9">
            <a:extLst>
              <a:ext uri="{FF2B5EF4-FFF2-40B4-BE49-F238E27FC236}">
                <a16:creationId xmlns:a16="http://schemas.microsoft.com/office/drawing/2014/main" id="{B6D0638C-6BAF-FFFF-4444-639821082A71}"/>
              </a:ext>
            </a:extLst>
          </p:cNvPr>
          <p:cNvSpPr/>
          <p:nvPr/>
        </p:nvSpPr>
        <p:spPr>
          <a:xfrm>
            <a:off x="8942149" y="3789674"/>
            <a:ext cx="2800877" cy="275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A09A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IDEATION</a:t>
            </a:r>
            <a:endParaRPr lang="en-US" sz="1100" dirty="0"/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12AC0F23-9D44-4D80-F1FE-49862C344DF6}"/>
              </a:ext>
            </a:extLst>
          </p:cNvPr>
          <p:cNvGrpSpPr/>
          <p:nvPr/>
        </p:nvGrpSpPr>
        <p:grpSpPr>
          <a:xfrm>
            <a:off x="540867" y="5254298"/>
            <a:ext cx="11109960" cy="457200"/>
            <a:chOff x="540868" y="4797098"/>
            <a:chExt cx="11109960" cy="457200"/>
          </a:xfrm>
        </p:grpSpPr>
        <p:sp>
          <p:nvSpPr>
            <p:cNvPr id="51" name="Shape 11">
              <a:extLst>
                <a:ext uri="{FF2B5EF4-FFF2-40B4-BE49-F238E27FC236}">
                  <a16:creationId xmlns:a16="http://schemas.microsoft.com/office/drawing/2014/main" id="{069CC4CA-D82B-F009-C357-7373CD7CCACC}"/>
                </a:ext>
              </a:extLst>
            </p:cNvPr>
            <p:cNvSpPr/>
            <p:nvPr/>
          </p:nvSpPr>
          <p:spPr>
            <a:xfrm>
              <a:off x="540868" y="4797098"/>
              <a:ext cx="2606040" cy="457200"/>
            </a:xfrm>
            <a:prstGeom prst="rect">
              <a:avLst/>
            </a:prstGeom>
            <a:solidFill>
              <a:srgbClr val="1E1E1E"/>
            </a:solidFill>
            <a:ln w="12700">
              <a:solidFill>
                <a:srgbClr val="333333"/>
              </a:solidFill>
              <a:prstDash val="solid"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53" name="Text 12">
              <a:extLst>
                <a:ext uri="{FF2B5EF4-FFF2-40B4-BE49-F238E27FC236}">
                  <a16:creationId xmlns:a16="http://schemas.microsoft.com/office/drawing/2014/main" id="{7523A5E5-3E5D-3F92-6AF3-461ECA8E361C}"/>
                </a:ext>
              </a:extLst>
            </p:cNvPr>
            <p:cNvSpPr/>
            <p:nvPr/>
          </p:nvSpPr>
          <p:spPr>
            <a:xfrm>
              <a:off x="540868" y="4797098"/>
              <a:ext cx="260604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2E7D5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✓  </a:t>
              </a:r>
              <a:r>
                <a:rPr lang="en-US" sz="1100" b="1" dirty="0">
                  <a:solidFill>
                    <a:srgbClr val="E6E2D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8/8 Layer 2 modules</a:t>
              </a:r>
              <a:endParaRPr lang="en-US" sz="1100" dirty="0"/>
            </a:p>
          </p:txBody>
        </p:sp>
        <p:sp>
          <p:nvSpPr>
            <p:cNvPr id="55" name="Shape 13">
              <a:extLst>
                <a:ext uri="{FF2B5EF4-FFF2-40B4-BE49-F238E27FC236}">
                  <a16:creationId xmlns:a16="http://schemas.microsoft.com/office/drawing/2014/main" id="{1B8D9092-40C0-47E6-57DD-6B78CCA11036}"/>
                </a:ext>
              </a:extLst>
            </p:cNvPr>
            <p:cNvSpPr/>
            <p:nvPr/>
          </p:nvSpPr>
          <p:spPr>
            <a:xfrm>
              <a:off x="3375508" y="4797098"/>
              <a:ext cx="2606040" cy="457200"/>
            </a:xfrm>
            <a:prstGeom prst="rect">
              <a:avLst/>
            </a:prstGeom>
            <a:solidFill>
              <a:srgbClr val="1E1E1E"/>
            </a:solidFill>
            <a:ln w="12700">
              <a:solidFill>
                <a:srgbClr val="333333"/>
              </a:solidFill>
              <a:prstDash val="solid"/>
            </a:ln>
          </p:spPr>
        </p:sp>
        <p:sp>
          <p:nvSpPr>
            <p:cNvPr id="57" name="Text 14">
              <a:extLst>
                <a:ext uri="{FF2B5EF4-FFF2-40B4-BE49-F238E27FC236}">
                  <a16:creationId xmlns:a16="http://schemas.microsoft.com/office/drawing/2014/main" id="{CE08513C-91A4-095B-AB2B-A52773AC9A6B}"/>
                </a:ext>
              </a:extLst>
            </p:cNvPr>
            <p:cNvSpPr/>
            <p:nvPr/>
          </p:nvSpPr>
          <p:spPr>
            <a:xfrm>
              <a:off x="3375508" y="4797098"/>
              <a:ext cx="260604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2E7D5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✓  </a:t>
              </a:r>
              <a:r>
                <a:rPr lang="en-US" sz="1100" b="1" dirty="0">
                  <a:solidFill>
                    <a:srgbClr val="E6E2D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Full-stack working prototype</a:t>
              </a:r>
              <a:endParaRPr lang="en-US" sz="1100" dirty="0"/>
            </a:p>
          </p:txBody>
        </p:sp>
        <p:sp>
          <p:nvSpPr>
            <p:cNvPr id="59" name="Shape 15">
              <a:extLst>
                <a:ext uri="{FF2B5EF4-FFF2-40B4-BE49-F238E27FC236}">
                  <a16:creationId xmlns:a16="http://schemas.microsoft.com/office/drawing/2014/main" id="{66BDE171-E587-8748-F465-7D24355F7ABE}"/>
                </a:ext>
              </a:extLst>
            </p:cNvPr>
            <p:cNvSpPr/>
            <p:nvPr/>
          </p:nvSpPr>
          <p:spPr>
            <a:xfrm>
              <a:off x="6210148" y="4797098"/>
              <a:ext cx="2606040" cy="457200"/>
            </a:xfrm>
            <a:prstGeom prst="rect">
              <a:avLst/>
            </a:prstGeom>
            <a:solidFill>
              <a:srgbClr val="1E1E1E"/>
            </a:solidFill>
            <a:ln w="12700">
              <a:solidFill>
                <a:srgbClr val="333333"/>
              </a:solidFill>
              <a:prstDash val="solid"/>
            </a:ln>
          </p:spPr>
        </p:sp>
        <p:sp>
          <p:nvSpPr>
            <p:cNvPr id="61" name="Text 16">
              <a:extLst>
                <a:ext uri="{FF2B5EF4-FFF2-40B4-BE49-F238E27FC236}">
                  <a16:creationId xmlns:a16="http://schemas.microsoft.com/office/drawing/2014/main" id="{EFC91F30-B789-EFC1-5B5F-97F805CEF26F}"/>
                </a:ext>
              </a:extLst>
            </p:cNvPr>
            <p:cNvSpPr/>
            <p:nvPr/>
          </p:nvSpPr>
          <p:spPr>
            <a:xfrm>
              <a:off x="6210148" y="4797098"/>
              <a:ext cx="260604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2E7D5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✓  </a:t>
              </a:r>
              <a:r>
                <a:rPr lang="en-US" sz="1100" b="1" dirty="0">
                  <a:solidFill>
                    <a:srgbClr val="E6E2D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Verifiable citations</a:t>
              </a:r>
              <a:endParaRPr lang="en-US" sz="1100" dirty="0"/>
            </a:p>
          </p:txBody>
        </p:sp>
        <p:sp>
          <p:nvSpPr>
            <p:cNvPr id="63" name="Shape 17">
              <a:extLst>
                <a:ext uri="{FF2B5EF4-FFF2-40B4-BE49-F238E27FC236}">
                  <a16:creationId xmlns:a16="http://schemas.microsoft.com/office/drawing/2014/main" id="{4A3F8B88-BDC8-BC7A-1A44-DE150FCE9D5F}"/>
                </a:ext>
              </a:extLst>
            </p:cNvPr>
            <p:cNvSpPr/>
            <p:nvPr/>
          </p:nvSpPr>
          <p:spPr>
            <a:xfrm>
              <a:off x="9044788" y="4797098"/>
              <a:ext cx="2606040" cy="457200"/>
            </a:xfrm>
            <a:prstGeom prst="rect">
              <a:avLst/>
            </a:prstGeom>
            <a:solidFill>
              <a:srgbClr val="1E1E1E"/>
            </a:solidFill>
            <a:ln w="12700">
              <a:solidFill>
                <a:srgbClr val="333333"/>
              </a:solidFill>
              <a:prstDash val="solid"/>
            </a:ln>
          </p:spPr>
        </p:sp>
        <p:sp>
          <p:nvSpPr>
            <p:cNvPr id="65" name="Text 18">
              <a:extLst>
                <a:ext uri="{FF2B5EF4-FFF2-40B4-BE49-F238E27FC236}">
                  <a16:creationId xmlns:a16="http://schemas.microsoft.com/office/drawing/2014/main" id="{25C61A70-55F0-6BED-D7E1-5895B07B765C}"/>
                </a:ext>
              </a:extLst>
            </p:cNvPr>
            <p:cNvSpPr/>
            <p:nvPr/>
          </p:nvSpPr>
          <p:spPr>
            <a:xfrm>
              <a:off x="9044788" y="4797098"/>
              <a:ext cx="260604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2E7D5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✓  </a:t>
              </a:r>
              <a:r>
                <a:rPr lang="en-US" sz="1100" b="1" dirty="0">
                  <a:solidFill>
                    <a:srgbClr val="E6E2D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Dual-theme, production UI</a:t>
              </a:r>
              <a:endParaRPr lang="en-US" sz="1100" dirty="0"/>
            </a:p>
          </p:txBody>
        </p:sp>
      </p:grpSp>
    </p:spTree>
    <p:extLst>
      <p:ext uri="{BB962C8B-B14F-4D97-AF65-F5344CB8AC3E}">
        <p14:creationId xmlns:p14="http://schemas.microsoft.com/office/powerpoint/2010/main" val="38932023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897</Words>
  <Application>Microsoft Office PowerPoint</Application>
  <PresentationFormat>Widescreen</PresentationFormat>
  <Paragraphs>190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Courier New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Aarya Deshpande</cp:lastModifiedBy>
  <cp:revision>3</cp:revision>
  <dcterms:created xsi:type="dcterms:W3CDTF">2026-08-01T05:37:15Z</dcterms:created>
  <dcterms:modified xsi:type="dcterms:W3CDTF">2026-08-01T06:09:03Z</dcterms:modified>
</cp:coreProperties>
</file>